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94" r:id="rId3"/>
    <p:sldId id="287" r:id="rId4"/>
    <p:sldId id="257" r:id="rId5"/>
    <p:sldId id="259" r:id="rId6"/>
    <p:sldId id="267" r:id="rId7"/>
    <p:sldId id="268" r:id="rId8"/>
    <p:sldId id="288" r:id="rId9"/>
    <p:sldId id="306" r:id="rId10"/>
    <p:sldId id="307" r:id="rId11"/>
    <p:sldId id="308" r:id="rId12"/>
    <p:sldId id="309" r:id="rId13"/>
    <p:sldId id="310" r:id="rId14"/>
    <p:sldId id="292" r:id="rId15"/>
    <p:sldId id="295" r:id="rId16"/>
    <p:sldId id="297" r:id="rId17"/>
    <p:sldId id="296" r:id="rId18"/>
    <p:sldId id="298" r:id="rId19"/>
    <p:sldId id="269" r:id="rId20"/>
    <p:sldId id="299" r:id="rId21"/>
    <p:sldId id="271" r:id="rId22"/>
    <p:sldId id="300" r:id="rId23"/>
    <p:sldId id="293" r:id="rId24"/>
    <p:sldId id="273" r:id="rId25"/>
    <p:sldId id="285" r:id="rId26"/>
    <p:sldId id="274" r:id="rId27"/>
    <p:sldId id="275" r:id="rId28"/>
    <p:sldId id="276" r:id="rId29"/>
    <p:sldId id="277" r:id="rId30"/>
    <p:sldId id="278" r:id="rId31"/>
    <p:sldId id="279" r:id="rId32"/>
    <p:sldId id="280" r:id="rId33"/>
    <p:sldId id="281" r:id="rId34"/>
    <p:sldId id="282" r:id="rId35"/>
    <p:sldId id="283" r:id="rId36"/>
    <p:sldId id="284" r:id="rId37"/>
    <p:sldId id="311" r:id="rId38"/>
    <p:sldId id="313" r:id="rId39"/>
    <p:sldId id="301" r:id="rId40"/>
    <p:sldId id="304" r:id="rId41"/>
    <p:sldId id="303" r:id="rId42"/>
    <p:sldId id="314" r:id="rId43"/>
    <p:sldId id="315" r:id="rId44"/>
    <p:sldId id="305" r:id="rId45"/>
    <p:sldId id="316" r:id="rId46"/>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ed Abd Elazeem" userId="303e9edbd4cd4b69" providerId="LiveId" clId="{CA7F24BF-E6B7-419B-AE36-F461ECBEE73B}"/>
    <pc:docChg chg="modSld">
      <pc:chgData name="Mohamed Abd Elazeem" userId="303e9edbd4cd4b69" providerId="LiveId" clId="{CA7F24BF-E6B7-419B-AE36-F461ECBEE73B}" dt="2024-02-29T10:53:37.295" v="0" actId="1076"/>
      <pc:docMkLst>
        <pc:docMk/>
      </pc:docMkLst>
      <pc:sldChg chg="modSp mod">
        <pc:chgData name="Mohamed Abd Elazeem" userId="303e9edbd4cd4b69" providerId="LiveId" clId="{CA7F24BF-E6B7-419B-AE36-F461ECBEE73B}" dt="2024-02-29T10:53:37.295" v="0" actId="1076"/>
        <pc:sldMkLst>
          <pc:docMk/>
          <pc:sldMk cId="1420032160" sldId="314"/>
        </pc:sldMkLst>
        <pc:picChg chg="mod">
          <ac:chgData name="Mohamed Abd Elazeem" userId="303e9edbd4cd4b69" providerId="LiveId" clId="{CA7F24BF-E6B7-419B-AE36-F461ECBEE73B}" dt="2024-02-29T10:53:37.295" v="0" actId="1076"/>
          <ac:picMkLst>
            <pc:docMk/>
            <pc:sldMk cId="1420032160" sldId="314"/>
            <ac:picMk id="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134179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880530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429187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2592811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412151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682433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961760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2556439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848014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0264588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5754867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6591996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4721758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0742171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24410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4010524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6100825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8402976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2817616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3736108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823596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9553703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27839136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9258893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8932506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5875139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574051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2"/>
        </a:solidFill>
        <a:effectLst/>
      </p:bgPr>
    </p:bg>
    <p:spTree>
      <p:nvGrpSpPr>
        <p:cNvPr id="1" name=""/>
        <p:cNvGrpSpPr/>
        <p:nvPr/>
      </p:nvGrpSpPr>
      <p:grpSpPr>
        <a:xfrm>
          <a:off x="0" y="0"/>
          <a:ext cx="0" cy="0"/>
          <a:chOff x="0" y="0"/>
          <a:chExt cx="0" cy="0"/>
        </a:xfrm>
      </p:grpSpPr>
      <p:sp>
        <p:nvSpPr>
          <p:cNvPr id="5" name="Text 2"/>
          <p:cNvSpPr/>
          <p:nvPr/>
        </p:nvSpPr>
        <p:spPr>
          <a:xfrm>
            <a:off x="833199" y="1006912"/>
            <a:ext cx="7477601" cy="1666399"/>
          </a:xfrm>
          <a:prstGeom prst="rect">
            <a:avLst/>
          </a:prstGeom>
          <a:noFill/>
          <a:ln/>
        </p:spPr>
        <p:txBody>
          <a:bodyPr wrap="square" rtlCol="0" anchor="t"/>
          <a:lstStyle/>
          <a:p>
            <a:pPr marL="0" indent="0">
              <a:lnSpc>
                <a:spcPts val="6561"/>
              </a:lnSpc>
              <a:buNone/>
            </a:pPr>
            <a:r>
              <a:rPr lang="en-US" sz="5249" b="1" dirty="0">
                <a:solidFill>
                  <a:schemeClr val="accent4"/>
                </a:solidFill>
                <a:latin typeface="Roboto Slab" pitchFamily="34" charset="0"/>
                <a:ea typeface="Roboto Slab" pitchFamily="34" charset="-122"/>
                <a:cs typeface="Roboto Slab" pitchFamily="34" charset="-120"/>
              </a:rPr>
              <a:t>GIS Campus Safety </a:t>
            </a:r>
          </a:p>
          <a:p>
            <a:pPr marL="0" indent="0">
              <a:lnSpc>
                <a:spcPts val="6561"/>
              </a:lnSpc>
              <a:buNone/>
            </a:pPr>
            <a:r>
              <a:rPr lang="en-US" sz="5249" b="1" dirty="0">
                <a:solidFill>
                  <a:schemeClr val="accent4"/>
                </a:solidFill>
                <a:latin typeface="Roboto Slab" pitchFamily="34" charset="0"/>
                <a:ea typeface="Roboto Slab" pitchFamily="34" charset="-122"/>
              </a:rPr>
              <a:t>Application</a:t>
            </a:r>
            <a:endParaRPr lang="en-US" sz="5249" b="1" dirty="0">
              <a:solidFill>
                <a:schemeClr val="accent4"/>
              </a:solidFill>
            </a:endParaRPr>
          </a:p>
        </p:txBody>
      </p:sp>
      <p:sp>
        <p:nvSpPr>
          <p:cNvPr id="6" name="Text 3"/>
          <p:cNvSpPr/>
          <p:nvPr/>
        </p:nvSpPr>
        <p:spPr>
          <a:xfrm>
            <a:off x="833199" y="3006566"/>
            <a:ext cx="5643801" cy="1588294"/>
          </a:xfrm>
          <a:prstGeom prst="rect">
            <a:avLst/>
          </a:prstGeom>
          <a:noFill/>
          <a:ln/>
        </p:spPr>
        <p:txBody>
          <a:bodyPr wrap="square" rtlCol="0" anchor="t"/>
          <a:lstStyle/>
          <a:p>
            <a:pPr marL="0" indent="0">
              <a:lnSpc>
                <a:spcPts val="2799"/>
              </a:lnSpc>
              <a:buNone/>
            </a:pPr>
            <a:r>
              <a:rPr lang="en-US" sz="3200" b="1" dirty="0">
                <a:solidFill>
                  <a:srgbClr val="15213F"/>
                </a:solidFill>
                <a:latin typeface="Roboto" pitchFamily="34" charset="0"/>
                <a:ea typeface="Roboto" pitchFamily="34" charset="-122"/>
              </a:rPr>
              <a:t>Supervised By:</a:t>
            </a:r>
            <a:endParaRPr lang="en-US" sz="2400" b="1" dirty="0">
              <a:solidFill>
                <a:srgbClr val="15213F"/>
              </a:solidFill>
              <a:latin typeface="Roboto" pitchFamily="34" charset="0"/>
              <a:ea typeface="Roboto" pitchFamily="34" charset="-122"/>
            </a:endParaRPr>
          </a:p>
          <a:p>
            <a:pPr marL="0" indent="0">
              <a:lnSpc>
                <a:spcPts val="2799"/>
              </a:lnSpc>
              <a:buNone/>
            </a:pPr>
            <a:r>
              <a:rPr lang="en-US" sz="2400" dirty="0">
                <a:solidFill>
                  <a:srgbClr val="15213F"/>
                </a:solidFill>
                <a:latin typeface="Roboto" pitchFamily="34" charset="0"/>
                <a:ea typeface="Roboto" pitchFamily="34" charset="-122"/>
              </a:rPr>
              <a:t>. Prof Dr. </a:t>
            </a:r>
            <a:r>
              <a:rPr lang="en-US" sz="2400" dirty="0" err="1">
                <a:solidFill>
                  <a:srgbClr val="15213F"/>
                </a:solidFill>
                <a:latin typeface="Roboto" pitchFamily="34" charset="0"/>
                <a:ea typeface="Roboto" pitchFamily="34" charset="-122"/>
              </a:rPr>
              <a:t>Elsheshtawy</a:t>
            </a:r>
            <a:endParaRPr lang="en-US" sz="2400" dirty="0">
              <a:solidFill>
                <a:srgbClr val="15213F"/>
              </a:solidFill>
              <a:latin typeface="Roboto" pitchFamily="34" charset="0"/>
              <a:ea typeface="Roboto" pitchFamily="34" charset="-122"/>
            </a:endParaRPr>
          </a:p>
          <a:p>
            <a:pPr marL="0" indent="0">
              <a:lnSpc>
                <a:spcPts val="2799"/>
              </a:lnSpc>
              <a:buNone/>
            </a:pPr>
            <a:r>
              <a:rPr lang="en-US" sz="2400" dirty="0">
                <a:solidFill>
                  <a:srgbClr val="15213F"/>
                </a:solidFill>
                <a:latin typeface="Roboto" pitchFamily="34" charset="0"/>
                <a:ea typeface="Roboto" pitchFamily="34" charset="-122"/>
              </a:rPr>
              <a:t>. Dr. </a:t>
            </a:r>
            <a:r>
              <a:rPr lang="en-US" sz="2400" dirty="0" err="1">
                <a:solidFill>
                  <a:srgbClr val="15213F"/>
                </a:solidFill>
                <a:latin typeface="Roboto" pitchFamily="34" charset="0"/>
                <a:ea typeface="Roboto" pitchFamily="34" charset="-122"/>
              </a:rPr>
              <a:t>Kamel</a:t>
            </a:r>
            <a:r>
              <a:rPr lang="en-US" sz="2400" dirty="0">
                <a:solidFill>
                  <a:srgbClr val="15213F"/>
                </a:solidFill>
                <a:latin typeface="Roboto" pitchFamily="34" charset="0"/>
                <a:ea typeface="Roboto" pitchFamily="34" charset="-122"/>
              </a:rPr>
              <a:t> </a:t>
            </a:r>
            <a:r>
              <a:rPr lang="en-US" sz="2400" dirty="0" err="1">
                <a:solidFill>
                  <a:srgbClr val="15213F"/>
                </a:solidFill>
                <a:latin typeface="Roboto" pitchFamily="34" charset="0"/>
                <a:ea typeface="Roboto" pitchFamily="34" charset="-122"/>
              </a:rPr>
              <a:t>Soliman</a:t>
            </a:r>
            <a:endParaRPr lang="en-US" sz="2400" dirty="0">
              <a:solidFill>
                <a:srgbClr val="15213F"/>
              </a:solidFill>
              <a:latin typeface="Roboto" pitchFamily="34" charset="0"/>
              <a:ea typeface="Roboto" pitchFamily="34" charset="-122"/>
            </a:endParaRPr>
          </a:p>
          <a:p>
            <a:pPr marL="0" indent="0">
              <a:lnSpc>
                <a:spcPts val="2799"/>
              </a:lnSpc>
              <a:buNone/>
            </a:pPr>
            <a:r>
              <a:rPr lang="en-US" sz="2400" dirty="0">
                <a:solidFill>
                  <a:srgbClr val="15213F"/>
                </a:solidFill>
                <a:latin typeface="Roboto" pitchFamily="34" charset="0"/>
                <a:ea typeface="Roboto" pitchFamily="34" charset="-122"/>
              </a:rPr>
              <a:t>. T.A. </a:t>
            </a:r>
            <a:r>
              <a:rPr lang="en-US" sz="2400" dirty="0" err="1">
                <a:solidFill>
                  <a:srgbClr val="15213F"/>
                </a:solidFill>
                <a:latin typeface="Roboto" pitchFamily="34" charset="0"/>
                <a:ea typeface="Roboto" pitchFamily="34" charset="-122"/>
              </a:rPr>
              <a:t>Aya</a:t>
            </a:r>
            <a:r>
              <a:rPr lang="en-US" sz="2400" dirty="0">
                <a:solidFill>
                  <a:srgbClr val="15213F"/>
                </a:solidFill>
                <a:latin typeface="Roboto" pitchFamily="34" charset="0"/>
                <a:ea typeface="Roboto" pitchFamily="34" charset="-122"/>
              </a:rPr>
              <a:t> Saber</a:t>
            </a:r>
            <a:endParaRPr lang="en-US" sz="2400" dirty="0"/>
          </a:p>
        </p:txBody>
      </p:sp>
      <p:sp>
        <p:nvSpPr>
          <p:cNvPr id="8" name="AutoShape 2" descr="blob:https://web.whatsapp.com/dca92ca5-7525-4e34-9dea-ce71a19b01c9"/>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ar-EG"/>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58200" y="0"/>
            <a:ext cx="6172200" cy="8237537"/>
          </a:xfrm>
          <a:prstGeom prst="rect">
            <a:avLst/>
          </a:prstGeom>
        </p:spPr>
      </p:pic>
      <p:sp>
        <p:nvSpPr>
          <p:cNvPr id="2" name="Rectangle 1"/>
          <p:cNvSpPr/>
          <p:nvPr/>
        </p:nvSpPr>
        <p:spPr>
          <a:xfrm>
            <a:off x="833199" y="4682309"/>
            <a:ext cx="7315200" cy="3159839"/>
          </a:xfrm>
          <a:prstGeom prst="rect">
            <a:avLst/>
          </a:prstGeom>
        </p:spPr>
        <p:txBody>
          <a:bodyPr>
            <a:spAutoFit/>
          </a:bodyPr>
          <a:lstStyle/>
          <a:p>
            <a:pPr>
              <a:lnSpc>
                <a:spcPts val="2799"/>
              </a:lnSpc>
            </a:pPr>
            <a:r>
              <a:rPr lang="en-US" sz="2000" b="1" dirty="0">
                <a:solidFill>
                  <a:srgbClr val="15213F"/>
                </a:solidFill>
                <a:latin typeface="Roboto" pitchFamily="34" charset="0"/>
                <a:ea typeface="Roboto" pitchFamily="34" charset="-122"/>
              </a:rPr>
              <a:t>Presented By:</a:t>
            </a:r>
          </a:p>
          <a:p>
            <a:r>
              <a:rPr lang="en-US" sz="2000" dirty="0"/>
              <a:t>. </a:t>
            </a:r>
            <a:r>
              <a:rPr lang="en-US" sz="2000" dirty="0" err="1"/>
              <a:t>Abdelrahman</a:t>
            </a:r>
            <a:r>
              <a:rPr lang="en-US" sz="2000" dirty="0"/>
              <a:t> Mohamed </a:t>
            </a:r>
            <a:r>
              <a:rPr lang="en-US" sz="2000" dirty="0" err="1"/>
              <a:t>Eid</a:t>
            </a:r>
            <a:r>
              <a:rPr lang="en-US" sz="2000" dirty="0"/>
              <a:t> Hassan</a:t>
            </a:r>
          </a:p>
          <a:p>
            <a:r>
              <a:rPr lang="en-US" sz="2000" dirty="0"/>
              <a:t>. Mohamed Shams Alden Ali </a:t>
            </a:r>
            <a:r>
              <a:rPr lang="en-US" sz="2000" dirty="0" err="1"/>
              <a:t>Tarakji</a:t>
            </a:r>
            <a:endParaRPr lang="en-US" sz="2000" dirty="0"/>
          </a:p>
          <a:p>
            <a:r>
              <a:rPr lang="en-US" sz="2000" dirty="0"/>
              <a:t>. </a:t>
            </a:r>
            <a:r>
              <a:rPr lang="en-US" sz="2000" dirty="0" err="1"/>
              <a:t>Abdulrahman</a:t>
            </a:r>
            <a:r>
              <a:rPr lang="en-US" sz="2000" dirty="0"/>
              <a:t> Mohamed </a:t>
            </a:r>
            <a:r>
              <a:rPr lang="en-US" sz="2000" dirty="0" err="1"/>
              <a:t>Sayed</a:t>
            </a:r>
            <a:r>
              <a:rPr lang="en-US" sz="2000" dirty="0"/>
              <a:t> </a:t>
            </a:r>
            <a:r>
              <a:rPr lang="en-US" sz="2000" dirty="0" err="1"/>
              <a:t>Khalaf</a:t>
            </a:r>
            <a:endParaRPr lang="en-US" sz="2000" dirty="0"/>
          </a:p>
          <a:p>
            <a:r>
              <a:rPr lang="en-US" sz="2000" dirty="0"/>
              <a:t>. Mohamed Mahmoud Khaled Mohamed</a:t>
            </a:r>
          </a:p>
          <a:p>
            <a:r>
              <a:rPr lang="en-US" sz="2000" dirty="0"/>
              <a:t>. Mohamed </a:t>
            </a:r>
            <a:r>
              <a:rPr lang="en-US" sz="2000" dirty="0" err="1"/>
              <a:t>Abdelazeem</a:t>
            </a:r>
            <a:r>
              <a:rPr lang="en-US" sz="2000" dirty="0"/>
              <a:t> </a:t>
            </a:r>
            <a:r>
              <a:rPr lang="en-US" sz="2000" dirty="0" err="1"/>
              <a:t>Fathy</a:t>
            </a:r>
            <a:endParaRPr lang="en-US" sz="2000" dirty="0"/>
          </a:p>
          <a:p>
            <a:r>
              <a:rPr lang="en-US" sz="2000" dirty="0"/>
              <a:t>. Ali </a:t>
            </a:r>
            <a:r>
              <a:rPr lang="en-US" sz="2000" dirty="0" err="1"/>
              <a:t>Ayman</a:t>
            </a:r>
            <a:r>
              <a:rPr lang="en-US" sz="2000" dirty="0"/>
              <a:t> </a:t>
            </a:r>
            <a:r>
              <a:rPr lang="en-US" sz="2000" dirty="0" err="1"/>
              <a:t>Abdelhaq</a:t>
            </a:r>
            <a:r>
              <a:rPr lang="en-US" sz="2000" dirty="0"/>
              <a:t> </a:t>
            </a:r>
            <a:r>
              <a:rPr lang="en-US" sz="2000" dirty="0" err="1"/>
              <a:t>Mabrouk</a:t>
            </a:r>
            <a:endParaRPr lang="en-US" sz="2000" dirty="0"/>
          </a:p>
          <a:p>
            <a:r>
              <a:rPr lang="en-US" sz="2000" dirty="0"/>
              <a:t>. </a:t>
            </a:r>
            <a:r>
              <a:rPr lang="en-US" sz="2000" dirty="0" err="1"/>
              <a:t>Loaay</a:t>
            </a:r>
            <a:r>
              <a:rPr lang="en-US" sz="2000" dirty="0"/>
              <a:t> Samir </a:t>
            </a:r>
            <a:r>
              <a:rPr lang="en-US" sz="2000" dirty="0" err="1"/>
              <a:t>Helmy</a:t>
            </a:r>
            <a:r>
              <a:rPr lang="en-US" sz="2000" dirty="0"/>
              <a:t> Hassan</a:t>
            </a:r>
          </a:p>
          <a:p>
            <a:br>
              <a:rPr lang="en-US" dirty="0"/>
            </a:br>
            <a:endParaRPr lang="en-US" b="1" dirty="0"/>
          </a:p>
        </p:txBody>
      </p:sp>
    </p:spTree>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Text 2"/>
          <p:cNvSpPr/>
          <p:nvPr/>
        </p:nvSpPr>
        <p:spPr>
          <a:xfrm>
            <a:off x="362903" y="496133"/>
            <a:ext cx="1770697" cy="563880"/>
          </a:xfrm>
          <a:prstGeom prst="rect">
            <a:avLst/>
          </a:prstGeom>
          <a:noFill/>
          <a:ln/>
        </p:spPr>
        <p:txBody>
          <a:bodyPr wrap="none" rtlCol="0" anchor="t"/>
          <a:lstStyle/>
          <a:p>
            <a:pPr marL="0" indent="0">
              <a:lnSpc>
                <a:spcPts val="4440"/>
              </a:lnSpc>
              <a:buNone/>
            </a:pPr>
            <a:r>
              <a:rPr lang="en-US" sz="6000" b="1" dirty="0">
                <a:solidFill>
                  <a:schemeClr val="accent4"/>
                </a:solidFill>
                <a:latin typeface="Roboto Slab" pitchFamily="34" charset="0"/>
                <a:ea typeface="Roboto Slab" pitchFamily="34" charset="-122"/>
                <a:cs typeface="Roboto Slab" pitchFamily="34" charset="-120"/>
              </a:rPr>
              <a:t>Agenda</a:t>
            </a:r>
            <a:endParaRPr lang="en-US" sz="6000" b="1" dirty="0">
              <a:solidFill>
                <a:schemeClr val="accent4"/>
              </a:solidFill>
            </a:endParaRPr>
          </a:p>
        </p:txBody>
      </p:sp>
      <p:sp>
        <p:nvSpPr>
          <p:cNvPr id="11" name="Rounded Rectangle 10"/>
          <p:cNvSpPr/>
          <p:nvPr/>
        </p:nvSpPr>
        <p:spPr>
          <a:xfrm>
            <a:off x="668594" y="2180212"/>
            <a:ext cx="3293806" cy="1720645"/>
          </a:xfrm>
          <a:prstGeom prst="roundRect">
            <a:avLst/>
          </a:prstGeom>
        </p:spPr>
        <p:style>
          <a:lnRef idx="2">
            <a:schemeClr val="accent4"/>
          </a:lnRef>
          <a:fillRef idx="1">
            <a:schemeClr val="lt1"/>
          </a:fillRef>
          <a:effectRef idx="0">
            <a:schemeClr val="accent4"/>
          </a:effectRef>
          <a:fontRef idx="minor">
            <a:schemeClr val="dk1"/>
          </a:fontRef>
        </p:style>
        <p:txBody>
          <a:bodyPr rtlCol="1" anchor="ctr"/>
          <a:lstStyle/>
          <a:p>
            <a:pPr algn="ctr"/>
            <a:r>
              <a:rPr lang="en-US" dirty="0"/>
              <a:t>Project Background</a:t>
            </a:r>
            <a:endParaRPr lang="ar-EG" dirty="0"/>
          </a:p>
        </p:txBody>
      </p:sp>
      <p:sp>
        <p:nvSpPr>
          <p:cNvPr id="12" name="Rounded Rectangle 11"/>
          <p:cNvSpPr/>
          <p:nvPr/>
        </p:nvSpPr>
        <p:spPr>
          <a:xfrm>
            <a:off x="1750142" y="1864305"/>
            <a:ext cx="1130710" cy="63181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1" anchor="ctr"/>
          <a:lstStyle/>
          <a:p>
            <a:pPr algn="ctr"/>
            <a:r>
              <a:rPr lang="en-US" dirty="0">
                <a:solidFill>
                  <a:schemeClr val="tx1"/>
                </a:solidFill>
              </a:rPr>
              <a:t>01</a:t>
            </a:r>
            <a:endParaRPr lang="ar-EG" dirty="0">
              <a:solidFill>
                <a:schemeClr val="tx1"/>
              </a:solidFill>
            </a:endParaRPr>
          </a:p>
        </p:txBody>
      </p:sp>
      <p:sp>
        <p:nvSpPr>
          <p:cNvPr id="13" name="Rounded Rectangle 12"/>
          <p:cNvSpPr/>
          <p:nvPr/>
        </p:nvSpPr>
        <p:spPr>
          <a:xfrm>
            <a:off x="9419302" y="5120038"/>
            <a:ext cx="3293806" cy="1720645"/>
          </a:xfrm>
          <a:prstGeom prst="roundRect">
            <a:avLst/>
          </a:prstGeom>
        </p:spPr>
        <p:style>
          <a:lnRef idx="2">
            <a:schemeClr val="accent4"/>
          </a:lnRef>
          <a:fillRef idx="1">
            <a:schemeClr val="lt1"/>
          </a:fillRef>
          <a:effectRef idx="0">
            <a:schemeClr val="accent4"/>
          </a:effectRef>
          <a:fontRef idx="minor">
            <a:schemeClr val="dk1"/>
          </a:fontRef>
        </p:style>
        <p:txBody>
          <a:bodyPr rtlCol="1" anchor="ctr"/>
          <a:lstStyle/>
          <a:p>
            <a:pPr algn="ctr"/>
            <a:r>
              <a:rPr lang="en-US" dirty="0"/>
              <a:t>Conclusion &amp; What’s </a:t>
            </a:r>
          </a:p>
          <a:p>
            <a:pPr algn="ctr"/>
            <a:r>
              <a:rPr lang="en-US" dirty="0"/>
              <a:t>next</a:t>
            </a:r>
            <a:endParaRPr lang="ar-EG" dirty="0"/>
          </a:p>
        </p:txBody>
      </p:sp>
      <p:sp>
        <p:nvSpPr>
          <p:cNvPr id="14" name="Rounded Rectangle 13"/>
          <p:cNvSpPr/>
          <p:nvPr/>
        </p:nvSpPr>
        <p:spPr>
          <a:xfrm>
            <a:off x="668594" y="5120038"/>
            <a:ext cx="3293806" cy="1720645"/>
          </a:xfrm>
          <a:prstGeom prst="roundRect">
            <a:avLst/>
          </a:prstGeom>
        </p:spPr>
        <p:style>
          <a:lnRef idx="2">
            <a:schemeClr val="accent4"/>
          </a:lnRef>
          <a:fillRef idx="1">
            <a:schemeClr val="lt1"/>
          </a:fillRef>
          <a:effectRef idx="0">
            <a:schemeClr val="accent4"/>
          </a:effectRef>
          <a:fontRef idx="minor">
            <a:schemeClr val="dk1"/>
          </a:fontRef>
        </p:style>
        <p:txBody>
          <a:bodyPr rtlCol="1" anchor="ctr"/>
          <a:lstStyle/>
          <a:p>
            <a:pPr algn="ctr"/>
            <a:r>
              <a:rPr lang="en-US" dirty="0"/>
              <a:t>System Analysis &amp;</a:t>
            </a:r>
          </a:p>
          <a:p>
            <a:pPr algn="ctr"/>
            <a:r>
              <a:rPr lang="en-US" dirty="0"/>
              <a:t>Design</a:t>
            </a:r>
            <a:endParaRPr lang="ar-EG" dirty="0"/>
          </a:p>
        </p:txBody>
      </p:sp>
      <p:sp>
        <p:nvSpPr>
          <p:cNvPr id="15" name="Rounded Rectangle 14"/>
          <p:cNvSpPr/>
          <p:nvPr/>
        </p:nvSpPr>
        <p:spPr>
          <a:xfrm>
            <a:off x="9419302" y="2180210"/>
            <a:ext cx="3293806" cy="1720645"/>
          </a:xfrm>
          <a:prstGeom prst="roundRect">
            <a:avLst/>
          </a:prstGeom>
        </p:spPr>
        <p:style>
          <a:lnRef idx="2">
            <a:schemeClr val="accent4"/>
          </a:lnRef>
          <a:fillRef idx="1">
            <a:schemeClr val="lt1"/>
          </a:fillRef>
          <a:effectRef idx="0">
            <a:schemeClr val="accent4"/>
          </a:effectRef>
          <a:fontRef idx="minor">
            <a:schemeClr val="dk1"/>
          </a:fontRef>
        </p:style>
        <p:txBody>
          <a:bodyPr rtlCol="1" anchor="ctr"/>
          <a:lstStyle/>
          <a:p>
            <a:pPr algn="ctr"/>
            <a:r>
              <a:rPr lang="en-US" dirty="0"/>
              <a:t>Related Work</a:t>
            </a:r>
            <a:endParaRPr lang="ar-EG" dirty="0"/>
          </a:p>
        </p:txBody>
      </p:sp>
      <p:sp>
        <p:nvSpPr>
          <p:cNvPr id="16" name="Rounded Rectangle 15"/>
          <p:cNvSpPr/>
          <p:nvPr/>
        </p:nvSpPr>
        <p:spPr>
          <a:xfrm>
            <a:off x="5043948" y="2180211"/>
            <a:ext cx="3293806" cy="1720645"/>
          </a:xfrm>
          <a:prstGeom prst="roundRect">
            <a:avLst/>
          </a:prstGeom>
        </p:spPr>
        <p:style>
          <a:lnRef idx="2">
            <a:schemeClr val="accent4"/>
          </a:lnRef>
          <a:fillRef idx="1">
            <a:schemeClr val="lt1"/>
          </a:fillRef>
          <a:effectRef idx="0">
            <a:schemeClr val="accent4"/>
          </a:effectRef>
          <a:fontRef idx="minor">
            <a:schemeClr val="dk1"/>
          </a:fontRef>
        </p:style>
        <p:txBody>
          <a:bodyPr rtlCol="1" anchor="ctr"/>
          <a:lstStyle/>
          <a:p>
            <a:pPr algn="ctr"/>
            <a:r>
              <a:rPr lang="en-US" dirty="0"/>
              <a:t>Project Planning</a:t>
            </a:r>
            <a:endParaRPr lang="ar-EG" dirty="0"/>
          </a:p>
        </p:txBody>
      </p:sp>
      <p:sp>
        <p:nvSpPr>
          <p:cNvPr id="17" name="Rounded Rectangle 16"/>
          <p:cNvSpPr/>
          <p:nvPr/>
        </p:nvSpPr>
        <p:spPr>
          <a:xfrm>
            <a:off x="5043948" y="5120038"/>
            <a:ext cx="3293806" cy="1720645"/>
          </a:xfrm>
          <a:prstGeom prst="roundRect">
            <a:avLst/>
          </a:prstGeom>
        </p:spPr>
        <p:style>
          <a:lnRef idx="2">
            <a:schemeClr val="accent4"/>
          </a:lnRef>
          <a:fillRef idx="1">
            <a:schemeClr val="lt1"/>
          </a:fillRef>
          <a:effectRef idx="0">
            <a:schemeClr val="accent4"/>
          </a:effectRef>
          <a:fontRef idx="minor">
            <a:schemeClr val="dk1"/>
          </a:fontRef>
        </p:style>
        <p:txBody>
          <a:bodyPr rtlCol="1" anchor="ctr"/>
          <a:lstStyle/>
          <a:p>
            <a:pPr algn="ctr"/>
            <a:r>
              <a:rPr lang="en-US" dirty="0"/>
              <a:t>User interface</a:t>
            </a:r>
            <a:endParaRPr lang="ar-EG" dirty="0"/>
          </a:p>
        </p:txBody>
      </p:sp>
      <p:sp>
        <p:nvSpPr>
          <p:cNvPr id="18" name="Rounded Rectangle 17"/>
          <p:cNvSpPr/>
          <p:nvPr/>
        </p:nvSpPr>
        <p:spPr>
          <a:xfrm>
            <a:off x="6125496" y="1864305"/>
            <a:ext cx="1130710" cy="63181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1" anchor="ctr"/>
          <a:lstStyle/>
          <a:p>
            <a:pPr algn="ctr"/>
            <a:r>
              <a:rPr lang="en-US" dirty="0">
                <a:solidFill>
                  <a:schemeClr val="tx1"/>
                </a:solidFill>
              </a:rPr>
              <a:t>02</a:t>
            </a:r>
            <a:endParaRPr lang="ar-EG" dirty="0">
              <a:solidFill>
                <a:schemeClr val="tx1"/>
              </a:solidFill>
            </a:endParaRPr>
          </a:p>
        </p:txBody>
      </p:sp>
      <p:sp>
        <p:nvSpPr>
          <p:cNvPr id="19" name="Rounded Rectangle 18"/>
          <p:cNvSpPr/>
          <p:nvPr/>
        </p:nvSpPr>
        <p:spPr>
          <a:xfrm>
            <a:off x="10500850" y="4864215"/>
            <a:ext cx="1130710" cy="63181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1" anchor="ctr"/>
          <a:lstStyle/>
          <a:p>
            <a:pPr algn="ctr"/>
            <a:r>
              <a:rPr lang="en-US" dirty="0">
                <a:solidFill>
                  <a:schemeClr val="tx1"/>
                </a:solidFill>
              </a:rPr>
              <a:t>06</a:t>
            </a:r>
            <a:endParaRPr lang="ar-EG" dirty="0">
              <a:solidFill>
                <a:schemeClr val="tx1"/>
              </a:solidFill>
            </a:endParaRPr>
          </a:p>
        </p:txBody>
      </p:sp>
      <p:sp>
        <p:nvSpPr>
          <p:cNvPr id="20" name="Rounded Rectangle 19"/>
          <p:cNvSpPr/>
          <p:nvPr/>
        </p:nvSpPr>
        <p:spPr>
          <a:xfrm>
            <a:off x="6125496" y="4784467"/>
            <a:ext cx="1130710" cy="63181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1" anchor="ctr"/>
          <a:lstStyle/>
          <a:p>
            <a:pPr algn="ctr"/>
            <a:r>
              <a:rPr lang="en-US" dirty="0">
                <a:solidFill>
                  <a:schemeClr val="tx1"/>
                </a:solidFill>
              </a:rPr>
              <a:t>05</a:t>
            </a:r>
            <a:endParaRPr lang="ar-EG" dirty="0">
              <a:solidFill>
                <a:schemeClr val="tx1"/>
              </a:solidFill>
            </a:endParaRPr>
          </a:p>
        </p:txBody>
      </p:sp>
      <p:sp>
        <p:nvSpPr>
          <p:cNvPr id="21" name="Rounded Rectangle 20"/>
          <p:cNvSpPr/>
          <p:nvPr/>
        </p:nvSpPr>
        <p:spPr>
          <a:xfrm>
            <a:off x="1755059" y="4804131"/>
            <a:ext cx="1130710" cy="63181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1" anchor="ctr"/>
          <a:lstStyle/>
          <a:p>
            <a:pPr algn="ctr"/>
            <a:r>
              <a:rPr lang="en-US" dirty="0">
                <a:solidFill>
                  <a:schemeClr val="tx1"/>
                </a:solidFill>
              </a:rPr>
              <a:t>04</a:t>
            </a:r>
            <a:endParaRPr lang="ar-EG" dirty="0">
              <a:solidFill>
                <a:schemeClr val="tx1"/>
              </a:solidFill>
            </a:endParaRPr>
          </a:p>
        </p:txBody>
      </p:sp>
      <p:sp>
        <p:nvSpPr>
          <p:cNvPr id="22" name="Rounded Rectangle 21"/>
          <p:cNvSpPr/>
          <p:nvPr/>
        </p:nvSpPr>
        <p:spPr>
          <a:xfrm>
            <a:off x="10500850" y="2005598"/>
            <a:ext cx="1130710" cy="63181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1" anchor="ctr"/>
          <a:lstStyle/>
          <a:p>
            <a:pPr algn="ctr"/>
            <a:r>
              <a:rPr lang="en-US" dirty="0">
                <a:solidFill>
                  <a:schemeClr val="tx1"/>
                </a:solidFill>
              </a:rPr>
              <a:t>03</a:t>
            </a:r>
            <a:endParaRPr lang="ar-EG" dirty="0">
              <a:solidFill>
                <a:schemeClr val="tx1"/>
              </a:solidFill>
            </a:endParaRPr>
          </a:p>
        </p:txBody>
      </p:sp>
    </p:spTree>
    <p:extLst>
      <p:ext uri="{BB962C8B-B14F-4D97-AF65-F5344CB8AC3E}">
        <p14:creationId xmlns:p14="http://schemas.microsoft.com/office/powerpoint/2010/main" val="381311155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26" name="Picture 2" descr="https://lh7-us.googleusercontent.com/IR6WNmLiOeWoDS5vjkFT0szO4kKslyg9-6qHTfYPtyzUEhw3xTEw0wDfrnZ1KY3_p2e84Gi4G1Sk1Jn08RB0GRbVGt2oBVpuyd1bXedgKufPvCWS9R5SL09CL-a0KhXQdMGP53mj6kLFOyqpfTarbHR8i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7292" y="827359"/>
            <a:ext cx="3944476" cy="71365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1384586" y="2723369"/>
            <a:ext cx="6073458" cy="1529778"/>
          </a:xfrm>
          <a:prstGeom prst="rect">
            <a:avLst/>
          </a:prstGeom>
        </p:spPr>
        <p:txBody>
          <a:bodyPr wrap="none">
            <a:spAutoFit/>
          </a:bodyPr>
          <a:lstStyle/>
          <a:p>
            <a:pPr>
              <a:lnSpc>
                <a:spcPts val="5468"/>
              </a:lnSpc>
            </a:pPr>
            <a:r>
              <a:rPr lang="en-US" sz="9600" b="1" dirty="0">
                <a:solidFill>
                  <a:schemeClr val="accent4"/>
                </a:solidFill>
                <a:latin typeface="+mj-lt"/>
                <a:ea typeface="Roboto Slab" pitchFamily="34" charset="-122"/>
              </a:rPr>
              <a:t>1. </a:t>
            </a:r>
          </a:p>
          <a:p>
            <a:pPr>
              <a:lnSpc>
                <a:spcPts val="5468"/>
              </a:lnSpc>
            </a:pPr>
            <a:r>
              <a:rPr lang="en-US" sz="6000" b="1" dirty="0">
                <a:solidFill>
                  <a:schemeClr val="accent4"/>
                </a:solidFill>
                <a:latin typeface="+mj-lt"/>
                <a:ea typeface="Roboto Slab" pitchFamily="34" charset="-122"/>
                <a:cs typeface="+mj-cs"/>
              </a:rPr>
              <a:t>Project Background</a:t>
            </a:r>
            <a:endParaRPr lang="en-US" sz="6000" b="1" dirty="0">
              <a:solidFill>
                <a:schemeClr val="accent4"/>
              </a:solidFill>
              <a:latin typeface="+mj-lt"/>
              <a:cs typeface="+mj-cs"/>
            </a:endParaRPr>
          </a:p>
        </p:txBody>
      </p:sp>
    </p:spTree>
    <p:extLst>
      <p:ext uri="{BB962C8B-B14F-4D97-AF65-F5344CB8AC3E}">
        <p14:creationId xmlns:p14="http://schemas.microsoft.com/office/powerpoint/2010/main" val="142941608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chemeClr val="bg1">
            <a:alpha val="50000"/>
          </a:schemeClr>
        </a:solidFill>
        <a:effectLst/>
      </p:bgPr>
    </p:bg>
    <p:spTree>
      <p:nvGrpSpPr>
        <p:cNvPr id="1" name=""/>
        <p:cNvGrpSpPr/>
        <p:nvPr/>
      </p:nvGrpSpPr>
      <p:grpSpPr>
        <a:xfrm>
          <a:off x="0" y="0"/>
          <a:ext cx="0" cy="0"/>
          <a:chOff x="0" y="0"/>
          <a:chExt cx="0" cy="0"/>
        </a:xfrm>
      </p:grpSpPr>
      <p:sp>
        <p:nvSpPr>
          <p:cNvPr id="4" name="Text 2"/>
          <p:cNvSpPr/>
          <p:nvPr/>
        </p:nvSpPr>
        <p:spPr>
          <a:xfrm>
            <a:off x="371118" y="413981"/>
            <a:ext cx="4696182" cy="709970"/>
          </a:xfrm>
          <a:prstGeom prst="rect">
            <a:avLst/>
          </a:prstGeom>
          <a:noFill/>
          <a:ln/>
        </p:spPr>
        <p:txBody>
          <a:bodyPr wrap="square" rtlCol="0" anchor="t"/>
          <a:lstStyle/>
          <a:p>
            <a:pPr marL="0" indent="0">
              <a:lnSpc>
                <a:spcPts val="5468"/>
              </a:lnSpc>
              <a:buNone/>
            </a:pPr>
            <a:r>
              <a:rPr lang="en-US" sz="6000" b="1" dirty="0">
                <a:solidFill>
                  <a:schemeClr val="accent4"/>
                </a:solidFill>
                <a:latin typeface="Roboto Slab" pitchFamily="34" charset="0"/>
                <a:ea typeface="Roboto Slab" pitchFamily="34" charset="-122"/>
                <a:cs typeface="Roboto Slab" pitchFamily="34" charset="-120"/>
              </a:rPr>
              <a:t>Introduction</a:t>
            </a:r>
            <a:endParaRPr lang="en-US" sz="6000" b="1" dirty="0">
              <a:solidFill>
                <a:schemeClr val="accent4"/>
              </a:solidFill>
            </a:endParaRPr>
          </a:p>
        </p:txBody>
      </p:sp>
      <p:sp>
        <p:nvSpPr>
          <p:cNvPr id="5" name="Text 3"/>
          <p:cNvSpPr/>
          <p:nvPr/>
        </p:nvSpPr>
        <p:spPr>
          <a:xfrm>
            <a:off x="371117" y="1537932"/>
            <a:ext cx="5017311" cy="534233"/>
          </a:xfrm>
          <a:prstGeom prst="rect">
            <a:avLst/>
          </a:prstGeom>
          <a:noFill/>
          <a:ln/>
        </p:spPr>
        <p:txBody>
          <a:bodyPr wrap="square" rtlCol="0" anchor="t"/>
          <a:lstStyle/>
          <a:p>
            <a:pPr marL="0" indent="0">
              <a:lnSpc>
                <a:spcPts val="2799"/>
              </a:lnSpc>
              <a:buNone/>
            </a:pPr>
            <a:r>
              <a:rPr lang="en-US" sz="3200" b="1" dirty="0">
                <a:solidFill>
                  <a:schemeClr val="accent1"/>
                </a:solidFill>
                <a:latin typeface="Roboto" pitchFamily="34" charset="0"/>
                <a:ea typeface="Roboto" pitchFamily="34" charset="-122"/>
                <a:cs typeface="+mj-cs"/>
              </a:rPr>
              <a:t>. Using GIS in education</a:t>
            </a:r>
            <a:endParaRPr lang="en-US" sz="3200" b="1" dirty="0">
              <a:solidFill>
                <a:schemeClr val="accent1"/>
              </a:solidFill>
              <a:cs typeface="+mj-cs"/>
            </a:endParaRPr>
          </a:p>
        </p:txBody>
      </p:sp>
      <p:sp>
        <p:nvSpPr>
          <p:cNvPr id="7" name="TextBox 6"/>
          <p:cNvSpPr txBox="1"/>
          <p:nvPr/>
        </p:nvSpPr>
        <p:spPr>
          <a:xfrm>
            <a:off x="371117" y="2072165"/>
            <a:ext cx="9439275" cy="830997"/>
          </a:xfrm>
          <a:prstGeom prst="rect">
            <a:avLst/>
          </a:prstGeom>
          <a:noFill/>
        </p:spPr>
        <p:txBody>
          <a:bodyPr wrap="square" rtlCol="1">
            <a:spAutoFit/>
          </a:bodyPr>
          <a:lstStyle/>
          <a:p>
            <a:r>
              <a:rPr lang="en-US" sz="2400" dirty="0"/>
              <a:t>Using GIS helps students frame , visualize their problems. It even enables students to create solutions to  those problems.</a:t>
            </a:r>
          </a:p>
        </p:txBody>
      </p:sp>
      <p:sp>
        <p:nvSpPr>
          <p:cNvPr id="8" name="Rectangle 7"/>
          <p:cNvSpPr/>
          <p:nvPr/>
        </p:nvSpPr>
        <p:spPr>
          <a:xfrm>
            <a:off x="371118" y="3078897"/>
            <a:ext cx="6171882" cy="466794"/>
          </a:xfrm>
          <a:prstGeom prst="rect">
            <a:avLst/>
          </a:prstGeom>
        </p:spPr>
        <p:txBody>
          <a:bodyPr wrap="none">
            <a:spAutoFit/>
          </a:bodyPr>
          <a:lstStyle/>
          <a:p>
            <a:pPr>
              <a:lnSpc>
                <a:spcPts val="2799"/>
              </a:lnSpc>
            </a:pPr>
            <a:r>
              <a:rPr lang="en-US" sz="3200" b="1" dirty="0">
                <a:solidFill>
                  <a:schemeClr val="accent1"/>
                </a:solidFill>
                <a:latin typeface="Roboto" pitchFamily="34" charset="0"/>
                <a:ea typeface="Roboto" pitchFamily="34" charset="-122"/>
                <a:cs typeface="+mj-cs"/>
              </a:rPr>
              <a:t>. Increase awareness of safety</a:t>
            </a:r>
            <a:endParaRPr lang="en-US" sz="3200" b="1" dirty="0">
              <a:solidFill>
                <a:schemeClr val="accent1"/>
              </a:solidFill>
              <a:cs typeface="+mj-cs"/>
            </a:endParaRPr>
          </a:p>
        </p:txBody>
      </p:sp>
      <p:sp>
        <p:nvSpPr>
          <p:cNvPr id="9" name="TextBox 8"/>
          <p:cNvSpPr txBox="1"/>
          <p:nvPr/>
        </p:nvSpPr>
        <p:spPr>
          <a:xfrm>
            <a:off x="371118" y="3721426"/>
            <a:ext cx="9172218" cy="830997"/>
          </a:xfrm>
          <a:prstGeom prst="rect">
            <a:avLst/>
          </a:prstGeom>
          <a:noFill/>
        </p:spPr>
        <p:txBody>
          <a:bodyPr wrap="square" rtlCol="1">
            <a:spAutoFit/>
          </a:bodyPr>
          <a:lstStyle/>
          <a:p>
            <a:r>
              <a:rPr lang="en-US" sz="2400" dirty="0"/>
              <a:t>Knowledge of security measures  build trust and create positive learning environment</a:t>
            </a:r>
          </a:p>
        </p:txBody>
      </p:sp>
      <p:sp>
        <p:nvSpPr>
          <p:cNvPr id="10" name="Rectangle 9"/>
          <p:cNvSpPr/>
          <p:nvPr/>
        </p:nvSpPr>
        <p:spPr>
          <a:xfrm>
            <a:off x="371118" y="4728158"/>
            <a:ext cx="3783408" cy="466794"/>
          </a:xfrm>
          <a:prstGeom prst="rect">
            <a:avLst/>
          </a:prstGeom>
        </p:spPr>
        <p:txBody>
          <a:bodyPr wrap="none">
            <a:spAutoFit/>
          </a:bodyPr>
          <a:lstStyle/>
          <a:p>
            <a:pPr>
              <a:lnSpc>
                <a:spcPts val="2799"/>
              </a:lnSpc>
            </a:pPr>
            <a:r>
              <a:rPr lang="en-US" sz="3200" b="1" dirty="0">
                <a:solidFill>
                  <a:schemeClr val="accent1"/>
                </a:solidFill>
                <a:latin typeface="Roboto" pitchFamily="34" charset="0"/>
                <a:ea typeface="Roboto" pitchFamily="34" charset="-122"/>
                <a:cs typeface="+mj-cs"/>
              </a:rPr>
              <a:t>. Crime prevention</a:t>
            </a:r>
            <a:endParaRPr lang="en-US" sz="3200" b="1" dirty="0">
              <a:solidFill>
                <a:schemeClr val="accent1"/>
              </a:solidFill>
              <a:cs typeface="+mj-cs"/>
            </a:endParaRPr>
          </a:p>
        </p:txBody>
      </p:sp>
      <p:sp>
        <p:nvSpPr>
          <p:cNvPr id="11" name="TextBox 10"/>
          <p:cNvSpPr txBox="1"/>
          <p:nvPr/>
        </p:nvSpPr>
        <p:spPr>
          <a:xfrm>
            <a:off x="371118" y="5352308"/>
            <a:ext cx="9439275" cy="830997"/>
          </a:xfrm>
          <a:prstGeom prst="rect">
            <a:avLst/>
          </a:prstGeom>
          <a:noFill/>
        </p:spPr>
        <p:txBody>
          <a:bodyPr wrap="square" rtlCol="1">
            <a:spAutoFit/>
          </a:bodyPr>
          <a:lstStyle/>
          <a:p>
            <a:r>
              <a:rPr lang="en-US" sz="2400" dirty="0"/>
              <a:t>Reduce opportunities for incidents, decrease crimes rate and inform individuals to take precautions</a:t>
            </a:r>
          </a:p>
        </p:txBody>
      </p:sp>
      <p:sp>
        <p:nvSpPr>
          <p:cNvPr id="13" name="Rectangle 12"/>
          <p:cNvSpPr/>
          <p:nvPr/>
        </p:nvSpPr>
        <p:spPr>
          <a:xfrm>
            <a:off x="371117" y="6362356"/>
            <a:ext cx="6861943" cy="466794"/>
          </a:xfrm>
          <a:prstGeom prst="rect">
            <a:avLst/>
          </a:prstGeom>
        </p:spPr>
        <p:txBody>
          <a:bodyPr wrap="none">
            <a:spAutoFit/>
          </a:bodyPr>
          <a:lstStyle/>
          <a:p>
            <a:pPr>
              <a:lnSpc>
                <a:spcPts val="2799"/>
              </a:lnSpc>
            </a:pPr>
            <a:r>
              <a:rPr lang="en-US" sz="3200" b="1" dirty="0">
                <a:solidFill>
                  <a:schemeClr val="accent1"/>
                </a:solidFill>
                <a:latin typeface="Roboto" pitchFamily="34" charset="0"/>
                <a:ea typeface="Roboto" pitchFamily="34" charset="-122"/>
                <a:cs typeface="+mj-cs"/>
              </a:rPr>
              <a:t>. Accessible and usable resources</a:t>
            </a:r>
            <a:endParaRPr lang="en-US" sz="3200" b="1" dirty="0">
              <a:solidFill>
                <a:schemeClr val="accent1"/>
              </a:solidFill>
              <a:cs typeface="+mj-cs"/>
            </a:endParaRPr>
          </a:p>
        </p:txBody>
      </p:sp>
      <p:sp>
        <p:nvSpPr>
          <p:cNvPr id="14" name="Rectangle 13"/>
          <p:cNvSpPr/>
          <p:nvPr/>
        </p:nvSpPr>
        <p:spPr>
          <a:xfrm>
            <a:off x="371118" y="6983190"/>
            <a:ext cx="9172218" cy="1107996"/>
          </a:xfrm>
          <a:prstGeom prst="rect">
            <a:avLst/>
          </a:prstGeom>
        </p:spPr>
        <p:txBody>
          <a:bodyPr wrap="square">
            <a:spAutoFit/>
          </a:bodyPr>
          <a:lstStyle/>
          <a:p>
            <a:r>
              <a:rPr lang="en-US" sz="2400" dirty="0">
                <a:latin typeface="Arial" panose="020B0604020202020204" pitchFamily="34" charset="0"/>
              </a:rPr>
              <a:t>Safety guides and </a:t>
            </a:r>
            <a:r>
              <a:rPr lang="en-US" sz="2400" dirty="0" err="1">
                <a:latin typeface="Arial" panose="020B0604020202020204" pitchFamily="34" charset="0"/>
              </a:rPr>
              <a:t>sos</a:t>
            </a:r>
            <a:r>
              <a:rPr lang="en-US" sz="2400" dirty="0">
                <a:latin typeface="Arial" panose="020B0604020202020204" pitchFamily="34" charset="0"/>
              </a:rPr>
              <a:t> app to help students and staff through emergencies with  an</a:t>
            </a:r>
            <a:r>
              <a:rPr lang="en-US" sz="2400" dirty="0"/>
              <a:t> easy to use application</a:t>
            </a:r>
            <a:br>
              <a:rPr lang="en-US" dirty="0"/>
            </a:br>
            <a:endParaRPr lang="ar-EG" dirty="0"/>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chemeClr val="bg1">
            <a:alpha val="50000"/>
          </a:schemeClr>
        </a:solidFill>
        <a:effectLst/>
      </p:bgPr>
    </p:bg>
    <p:spTree>
      <p:nvGrpSpPr>
        <p:cNvPr id="1" name=""/>
        <p:cNvGrpSpPr/>
        <p:nvPr/>
      </p:nvGrpSpPr>
      <p:grpSpPr>
        <a:xfrm>
          <a:off x="0" y="0"/>
          <a:ext cx="0" cy="0"/>
          <a:chOff x="0" y="0"/>
          <a:chExt cx="0" cy="0"/>
        </a:xfrm>
      </p:grpSpPr>
      <p:sp>
        <p:nvSpPr>
          <p:cNvPr id="4" name="Text 2"/>
          <p:cNvSpPr/>
          <p:nvPr/>
        </p:nvSpPr>
        <p:spPr>
          <a:xfrm>
            <a:off x="323493" y="418148"/>
            <a:ext cx="7102792" cy="833437"/>
          </a:xfrm>
          <a:prstGeom prst="rect">
            <a:avLst/>
          </a:prstGeom>
          <a:noFill/>
          <a:ln/>
        </p:spPr>
        <p:txBody>
          <a:bodyPr wrap="square" rtlCol="0" anchor="t"/>
          <a:lstStyle/>
          <a:p>
            <a:pPr marL="0" indent="0">
              <a:lnSpc>
                <a:spcPts val="5468"/>
              </a:lnSpc>
              <a:buNone/>
            </a:pPr>
            <a:r>
              <a:rPr lang="en-US" sz="6000" b="1" dirty="0">
                <a:solidFill>
                  <a:schemeClr val="accent4"/>
                </a:solidFill>
                <a:latin typeface="Roboto Slab" pitchFamily="34" charset="0"/>
                <a:ea typeface="Roboto Slab" pitchFamily="34" charset="-122"/>
                <a:cs typeface="Roboto Slab" pitchFamily="34" charset="-120"/>
              </a:rPr>
              <a:t>Problem Definition</a:t>
            </a:r>
            <a:endParaRPr lang="en-US" sz="6000" b="1" dirty="0">
              <a:solidFill>
                <a:schemeClr val="accent4"/>
              </a:solidFill>
            </a:endParaRPr>
          </a:p>
        </p:txBody>
      </p:sp>
      <p:sp>
        <p:nvSpPr>
          <p:cNvPr id="5" name="Shape 3"/>
          <p:cNvSpPr/>
          <p:nvPr/>
        </p:nvSpPr>
        <p:spPr>
          <a:xfrm>
            <a:off x="323492" y="1330760"/>
            <a:ext cx="9315807" cy="2087523"/>
          </a:xfrm>
          <a:prstGeom prst="roundRect">
            <a:avLst>
              <a:gd name="adj" fmla="val 6386"/>
            </a:avLst>
          </a:prstGeom>
          <a:solidFill>
            <a:srgbClr val="E7EDF9"/>
          </a:solidFill>
          <a:ln/>
        </p:spPr>
        <p:txBody>
          <a:bodyPr/>
          <a:lstStyle/>
          <a:p>
            <a:endParaRPr lang="ar-EG"/>
          </a:p>
        </p:txBody>
      </p:sp>
      <p:sp>
        <p:nvSpPr>
          <p:cNvPr id="7" name="Text 5"/>
          <p:cNvSpPr/>
          <p:nvPr/>
        </p:nvSpPr>
        <p:spPr>
          <a:xfrm>
            <a:off x="450413" y="1539536"/>
            <a:ext cx="8903137" cy="1878747"/>
          </a:xfrm>
          <a:prstGeom prst="rect">
            <a:avLst/>
          </a:prstGeom>
          <a:noFill/>
          <a:ln/>
        </p:spPr>
        <p:txBody>
          <a:bodyPr wrap="square" rtlCol="0" anchor="t"/>
          <a:lstStyle/>
          <a:p>
            <a:r>
              <a:rPr lang="en-US" sz="2400" dirty="0"/>
              <a:t>with the continuous increase of our university batches every year , thousands of students commit to their colleges. </a:t>
            </a:r>
          </a:p>
          <a:p>
            <a:r>
              <a:rPr lang="en-US" sz="2400" dirty="0"/>
              <a:t>and they may face a problem that needs urgent help with.</a:t>
            </a:r>
            <a:br>
              <a:rPr lang="en-US" sz="2400" dirty="0"/>
            </a:br>
            <a:endParaRPr lang="en-US" sz="2400" dirty="0"/>
          </a:p>
        </p:txBody>
      </p:sp>
      <p:sp>
        <p:nvSpPr>
          <p:cNvPr id="8" name="Shape 6"/>
          <p:cNvSpPr/>
          <p:nvPr/>
        </p:nvSpPr>
        <p:spPr>
          <a:xfrm>
            <a:off x="323492" y="3807260"/>
            <a:ext cx="9420583" cy="3620335"/>
          </a:xfrm>
          <a:prstGeom prst="roundRect">
            <a:avLst>
              <a:gd name="adj" fmla="val 6386"/>
            </a:avLst>
          </a:prstGeom>
          <a:solidFill>
            <a:srgbClr val="E7EDF9"/>
          </a:solidFill>
          <a:ln/>
        </p:spPr>
        <p:txBody>
          <a:bodyPr/>
          <a:lstStyle/>
          <a:p>
            <a:endParaRPr lang="ar-EG"/>
          </a:p>
        </p:txBody>
      </p:sp>
      <p:sp>
        <p:nvSpPr>
          <p:cNvPr id="9" name="Text 7"/>
          <p:cNvSpPr/>
          <p:nvPr/>
        </p:nvSpPr>
        <p:spPr>
          <a:xfrm>
            <a:off x="450413" y="3935367"/>
            <a:ext cx="3025974" cy="529116"/>
          </a:xfrm>
          <a:prstGeom prst="rect">
            <a:avLst/>
          </a:prstGeom>
          <a:noFill/>
          <a:ln/>
        </p:spPr>
        <p:txBody>
          <a:bodyPr wrap="none" rtlCol="0" anchor="t"/>
          <a:lstStyle/>
          <a:p>
            <a:pPr marL="0" indent="0">
              <a:lnSpc>
                <a:spcPts val="2734"/>
              </a:lnSpc>
              <a:buNone/>
            </a:pPr>
            <a:r>
              <a:rPr lang="en-US" sz="2800" b="1" dirty="0">
                <a:solidFill>
                  <a:srgbClr val="476FD6"/>
                </a:solidFill>
                <a:latin typeface="Roboto Slab" pitchFamily="34" charset="0"/>
                <a:ea typeface="Roboto Slab" pitchFamily="34" charset="-122"/>
                <a:cs typeface="Roboto Slab" pitchFamily="34" charset="-120"/>
              </a:rPr>
              <a:t>For example :</a:t>
            </a:r>
            <a:endParaRPr lang="en-US" sz="2800" b="1" dirty="0"/>
          </a:p>
        </p:txBody>
      </p:sp>
      <p:sp>
        <p:nvSpPr>
          <p:cNvPr id="10" name="Text 8"/>
          <p:cNvSpPr/>
          <p:nvPr/>
        </p:nvSpPr>
        <p:spPr>
          <a:xfrm>
            <a:off x="412551" y="4496289"/>
            <a:ext cx="9094024" cy="2553677"/>
          </a:xfrm>
          <a:prstGeom prst="rect">
            <a:avLst/>
          </a:prstGeom>
          <a:noFill/>
          <a:ln/>
        </p:spPr>
        <p:txBody>
          <a:bodyPr wrap="square" rtlCol="0" anchor="t"/>
          <a:lstStyle/>
          <a:p>
            <a:pPr marL="0" indent="0">
              <a:lnSpc>
                <a:spcPts val="2799"/>
              </a:lnSpc>
              <a:buNone/>
            </a:pPr>
            <a:r>
              <a:rPr lang="en-US" sz="2400" dirty="0"/>
              <a:t>Crimes as stealing and </a:t>
            </a:r>
            <a:r>
              <a:rPr lang="en-US" sz="2400" dirty="0" err="1"/>
              <a:t>harrasement</a:t>
            </a:r>
            <a:endParaRPr lang="en-US" sz="2400" dirty="0"/>
          </a:p>
          <a:p>
            <a:pPr marL="0" indent="0">
              <a:lnSpc>
                <a:spcPts val="2799"/>
              </a:lnSpc>
              <a:buNone/>
            </a:pPr>
            <a:r>
              <a:rPr lang="en-US" sz="2400" dirty="0"/>
              <a:t>Student fights , arguments , crowds</a:t>
            </a:r>
          </a:p>
          <a:p>
            <a:pPr marL="0" indent="0">
              <a:lnSpc>
                <a:spcPts val="2799"/>
              </a:lnSpc>
              <a:buNone/>
            </a:pPr>
            <a:r>
              <a:rPr lang="en-US" sz="2400" dirty="0"/>
              <a:t>Health problems as Fainting , diabetes, blood pressure</a:t>
            </a:r>
            <a:endParaRPr lang="ar-EG" sz="2400" dirty="0"/>
          </a:p>
          <a:p>
            <a:pPr marL="0" indent="0">
              <a:lnSpc>
                <a:spcPts val="2799"/>
              </a:lnSpc>
              <a:buNone/>
            </a:pPr>
            <a:r>
              <a:rPr lang="en-US" sz="2400" dirty="0"/>
              <a:t>Building problems as :</a:t>
            </a:r>
          </a:p>
          <a:p>
            <a:pPr marL="0" indent="0">
              <a:lnSpc>
                <a:spcPts val="2799"/>
              </a:lnSpc>
              <a:buNone/>
            </a:pPr>
            <a:r>
              <a:rPr lang="en-US" sz="2400" dirty="0"/>
              <a:t>power cutoff , water leakage</a:t>
            </a:r>
          </a:p>
          <a:p>
            <a:pPr marL="0" indent="0">
              <a:lnSpc>
                <a:spcPts val="2799"/>
              </a:lnSpc>
              <a:buNone/>
            </a:pPr>
            <a:r>
              <a:rPr lang="en-US" sz="2400" dirty="0"/>
              <a:t>broken window</a:t>
            </a:r>
          </a:p>
        </p:txBody>
      </p:sp>
      <p:sp>
        <p:nvSpPr>
          <p:cNvPr id="13" name="Text 11"/>
          <p:cNvSpPr/>
          <p:nvPr/>
        </p:nvSpPr>
        <p:spPr>
          <a:xfrm>
            <a:off x="323493" y="4675114"/>
            <a:ext cx="6093262" cy="1066205"/>
          </a:xfrm>
          <a:prstGeom prst="rect">
            <a:avLst/>
          </a:prstGeom>
          <a:noFill/>
          <a:ln/>
        </p:spPr>
        <p:txBody>
          <a:bodyPr wrap="square" rtlCol="0" anchor="t"/>
          <a:lstStyle/>
          <a:p>
            <a:endParaRPr lang="en-US" sz="2000" dirty="0"/>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ext 2"/>
          <p:cNvSpPr/>
          <p:nvPr/>
        </p:nvSpPr>
        <p:spPr>
          <a:xfrm>
            <a:off x="323493" y="418148"/>
            <a:ext cx="7102792" cy="833437"/>
          </a:xfrm>
          <a:prstGeom prst="rect">
            <a:avLst/>
          </a:prstGeom>
          <a:noFill/>
          <a:ln/>
        </p:spPr>
        <p:txBody>
          <a:bodyPr wrap="square" rtlCol="0" anchor="t"/>
          <a:lstStyle/>
          <a:p>
            <a:pPr marL="0" indent="0">
              <a:lnSpc>
                <a:spcPts val="5468"/>
              </a:lnSpc>
              <a:buNone/>
            </a:pPr>
            <a:r>
              <a:rPr lang="en-US" sz="6000" b="1" dirty="0">
                <a:solidFill>
                  <a:schemeClr val="accent4"/>
                </a:solidFill>
                <a:latin typeface="Roboto Slab" pitchFamily="34" charset="0"/>
                <a:ea typeface="Roboto Slab" pitchFamily="34" charset="-122"/>
                <a:cs typeface="Roboto Slab" pitchFamily="34" charset="-120"/>
              </a:rPr>
              <a:t>Solution Approach</a:t>
            </a:r>
            <a:endParaRPr lang="en-US" sz="6000" b="1" dirty="0">
              <a:solidFill>
                <a:schemeClr val="accent4"/>
              </a:solidFill>
            </a:endParaRPr>
          </a:p>
        </p:txBody>
      </p:sp>
      <p:sp>
        <p:nvSpPr>
          <p:cNvPr id="11" name="Shape 9"/>
          <p:cNvSpPr/>
          <p:nvPr/>
        </p:nvSpPr>
        <p:spPr>
          <a:xfrm>
            <a:off x="326887" y="1288940"/>
            <a:ext cx="10325457" cy="2467332"/>
          </a:xfrm>
          <a:prstGeom prst="roundRect">
            <a:avLst>
              <a:gd name="adj" fmla="val 6386"/>
            </a:avLst>
          </a:prstGeom>
          <a:solidFill>
            <a:srgbClr val="E7EDF9"/>
          </a:solidFill>
          <a:ln/>
        </p:spPr>
        <p:txBody>
          <a:bodyPr/>
          <a:lstStyle/>
          <a:p>
            <a:endParaRPr lang="ar-EG"/>
          </a:p>
        </p:txBody>
      </p:sp>
      <p:sp>
        <p:nvSpPr>
          <p:cNvPr id="19" name="Rectangle 18"/>
          <p:cNvSpPr/>
          <p:nvPr/>
        </p:nvSpPr>
        <p:spPr>
          <a:xfrm>
            <a:off x="504825" y="1372968"/>
            <a:ext cx="7315200" cy="2862322"/>
          </a:xfrm>
          <a:prstGeom prst="rect">
            <a:avLst/>
          </a:prstGeom>
        </p:spPr>
        <p:txBody>
          <a:bodyPr wrap="square">
            <a:spAutoFit/>
          </a:bodyPr>
          <a:lstStyle/>
          <a:p>
            <a:r>
              <a:rPr lang="en-US" sz="2400" b="1" dirty="0">
                <a:solidFill>
                  <a:schemeClr val="accent1"/>
                </a:solidFill>
              </a:rPr>
              <a:t>After the research and related works discussions We categorized the problems into 3 sections :</a:t>
            </a:r>
            <a:endParaRPr lang="en-US" sz="2400" dirty="0"/>
          </a:p>
          <a:p>
            <a:r>
              <a:rPr lang="en-US" sz="2400" dirty="0"/>
              <a:t>- Emergencies </a:t>
            </a:r>
          </a:p>
          <a:p>
            <a:r>
              <a:rPr lang="en-US" sz="2400" dirty="0"/>
              <a:t>- Health problems that require medicals involve as diabetes, angina </a:t>
            </a:r>
          </a:p>
          <a:p>
            <a:r>
              <a:rPr lang="en-US" sz="2400" dirty="0"/>
              <a:t>- General inquiries that can wait to get a response</a:t>
            </a:r>
          </a:p>
          <a:p>
            <a:br>
              <a:rPr lang="en-US" dirty="0"/>
            </a:br>
            <a:endParaRPr lang="ar-EG" dirty="0"/>
          </a:p>
        </p:txBody>
      </p:sp>
      <p:sp>
        <p:nvSpPr>
          <p:cNvPr id="20" name="Shape 9"/>
          <p:cNvSpPr/>
          <p:nvPr/>
        </p:nvSpPr>
        <p:spPr>
          <a:xfrm>
            <a:off x="323493" y="3877655"/>
            <a:ext cx="11477982" cy="4232202"/>
          </a:xfrm>
          <a:prstGeom prst="roundRect">
            <a:avLst>
              <a:gd name="adj" fmla="val 6386"/>
            </a:avLst>
          </a:prstGeom>
          <a:solidFill>
            <a:srgbClr val="E7EDF9"/>
          </a:solidFill>
          <a:ln/>
        </p:spPr>
        <p:txBody>
          <a:bodyPr/>
          <a:lstStyle/>
          <a:p>
            <a:endParaRPr lang="ar-EG"/>
          </a:p>
        </p:txBody>
      </p:sp>
      <p:sp>
        <p:nvSpPr>
          <p:cNvPr id="21" name="Rectangle 20"/>
          <p:cNvSpPr/>
          <p:nvPr/>
        </p:nvSpPr>
        <p:spPr>
          <a:xfrm>
            <a:off x="504825" y="3981627"/>
            <a:ext cx="10877550" cy="4678204"/>
          </a:xfrm>
          <a:prstGeom prst="rect">
            <a:avLst/>
          </a:prstGeom>
        </p:spPr>
        <p:txBody>
          <a:bodyPr wrap="square">
            <a:spAutoFit/>
          </a:bodyPr>
          <a:lstStyle/>
          <a:p>
            <a:r>
              <a:rPr lang="en-US" sz="2400" b="1" dirty="0">
                <a:solidFill>
                  <a:schemeClr val="accent1"/>
                </a:solidFill>
                <a:latin typeface="Arial" panose="020B0604020202020204" pitchFamily="34" charset="0"/>
              </a:rPr>
              <a:t>Ensuring campus safety must be considered to encounter the following:</a:t>
            </a:r>
          </a:p>
          <a:p>
            <a:endParaRPr lang="en-US" dirty="0"/>
          </a:p>
          <a:p>
            <a:r>
              <a:rPr lang="en-US" sz="2000" dirty="0">
                <a:latin typeface="Arial" panose="020B0604020202020204" pitchFamily="34" charset="0"/>
              </a:rPr>
              <a:t>- Personal Safety: Immediate access to resources can be life-saving during</a:t>
            </a:r>
            <a:endParaRPr lang="en-US" sz="2000" dirty="0"/>
          </a:p>
          <a:p>
            <a:r>
              <a:rPr lang="en-US" sz="2000" dirty="0">
                <a:latin typeface="Arial" panose="020B0604020202020204" pitchFamily="34" charset="0"/>
              </a:rPr>
              <a:t>emergencies, impacting students, faculty, and staff.</a:t>
            </a:r>
            <a:endParaRPr lang="en-US" sz="2000" dirty="0"/>
          </a:p>
          <a:p>
            <a:br>
              <a:rPr lang="en-US" sz="2000" dirty="0"/>
            </a:br>
            <a:r>
              <a:rPr lang="en-US" sz="2000" dirty="0">
                <a:latin typeface="Arial" panose="020B0604020202020204" pitchFamily="34" charset="0"/>
              </a:rPr>
              <a:t>- Trust Building: Knowledge of security measures fosters trust, creating a positive</a:t>
            </a:r>
            <a:endParaRPr lang="en-US" sz="2000" dirty="0"/>
          </a:p>
          <a:p>
            <a:r>
              <a:rPr lang="en-US" sz="2000" dirty="0">
                <a:latin typeface="Arial" panose="020B0604020202020204" pitchFamily="34" charset="0"/>
              </a:rPr>
              <a:t>learning environment.</a:t>
            </a:r>
            <a:endParaRPr lang="en-US" sz="2000" dirty="0"/>
          </a:p>
          <a:p>
            <a:br>
              <a:rPr lang="en-US" sz="2000" dirty="0"/>
            </a:br>
            <a:r>
              <a:rPr lang="en-US" sz="2000" dirty="0">
                <a:latin typeface="Arial" panose="020B0604020202020204" pitchFamily="34" charset="0"/>
              </a:rPr>
              <a:t>- Crime Prevention: Awareness deters crimes; informed individuals take precautions,</a:t>
            </a:r>
            <a:endParaRPr lang="en-US" sz="2000" dirty="0"/>
          </a:p>
          <a:p>
            <a:r>
              <a:rPr lang="en-US" sz="2000" dirty="0">
                <a:latin typeface="Arial" panose="020B0604020202020204" pitchFamily="34" charset="0"/>
              </a:rPr>
              <a:t>reducing opportunities for incidents.</a:t>
            </a:r>
            <a:endParaRPr lang="en-US" sz="2000" dirty="0"/>
          </a:p>
          <a:p>
            <a:br>
              <a:rPr lang="en-US" sz="2000" dirty="0"/>
            </a:br>
            <a:r>
              <a:rPr lang="en-US" sz="2000" dirty="0">
                <a:latin typeface="Arial" panose="020B0604020202020204" pitchFamily="34" charset="0"/>
              </a:rPr>
              <a:t>- Legal Obligations: Institutions must provide safety; failure leads to legal</a:t>
            </a:r>
            <a:endParaRPr lang="en-US" sz="2000" dirty="0"/>
          </a:p>
          <a:p>
            <a:r>
              <a:rPr lang="en-US" sz="2000" dirty="0">
                <a:latin typeface="Arial" panose="020B0604020202020204" pitchFamily="34" charset="0"/>
              </a:rPr>
              <a:t>consequences and damages reputation.</a:t>
            </a:r>
            <a:endParaRPr lang="en-US" sz="2000" dirty="0"/>
          </a:p>
          <a:p>
            <a:br>
              <a:rPr lang="en-US" dirty="0"/>
            </a:br>
            <a:endParaRPr lang="ar-EG" dirty="0"/>
          </a:p>
        </p:txBody>
      </p:sp>
    </p:spTree>
    <p:extLst>
      <p:ext uri="{BB962C8B-B14F-4D97-AF65-F5344CB8AC3E}">
        <p14:creationId xmlns:p14="http://schemas.microsoft.com/office/powerpoint/2010/main" val="88906113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ext 2"/>
          <p:cNvSpPr/>
          <p:nvPr/>
        </p:nvSpPr>
        <p:spPr>
          <a:xfrm>
            <a:off x="323493" y="418148"/>
            <a:ext cx="7102792" cy="833437"/>
          </a:xfrm>
          <a:prstGeom prst="rect">
            <a:avLst/>
          </a:prstGeom>
          <a:noFill/>
          <a:ln/>
        </p:spPr>
        <p:txBody>
          <a:bodyPr wrap="square" rtlCol="0" anchor="t"/>
          <a:lstStyle/>
          <a:p>
            <a:pPr marL="0" indent="0">
              <a:lnSpc>
                <a:spcPts val="5468"/>
              </a:lnSpc>
              <a:buNone/>
            </a:pPr>
            <a:r>
              <a:rPr lang="en-US" sz="6000" b="1" dirty="0">
                <a:solidFill>
                  <a:schemeClr val="accent4"/>
                </a:solidFill>
                <a:latin typeface="Roboto Slab" pitchFamily="34" charset="0"/>
                <a:ea typeface="Roboto Slab" pitchFamily="34" charset="-122"/>
                <a:cs typeface="Roboto Slab" pitchFamily="34" charset="-120"/>
              </a:rPr>
              <a:t>Objective</a:t>
            </a:r>
            <a:endParaRPr lang="en-US" sz="6000" b="1" dirty="0">
              <a:solidFill>
                <a:schemeClr val="accent4"/>
              </a:solidFill>
            </a:endParaRPr>
          </a:p>
        </p:txBody>
      </p:sp>
      <p:sp>
        <p:nvSpPr>
          <p:cNvPr id="11" name="Shape 9"/>
          <p:cNvSpPr/>
          <p:nvPr/>
        </p:nvSpPr>
        <p:spPr>
          <a:xfrm>
            <a:off x="323493" y="1251585"/>
            <a:ext cx="10325457" cy="6863715"/>
          </a:xfrm>
          <a:prstGeom prst="roundRect">
            <a:avLst>
              <a:gd name="adj" fmla="val 6386"/>
            </a:avLst>
          </a:prstGeom>
          <a:solidFill>
            <a:srgbClr val="E7EDF9"/>
          </a:solidFill>
          <a:ln/>
        </p:spPr>
        <p:txBody>
          <a:bodyPr/>
          <a:lstStyle/>
          <a:p>
            <a:endParaRPr lang="ar-EG"/>
          </a:p>
        </p:txBody>
      </p:sp>
      <p:sp>
        <p:nvSpPr>
          <p:cNvPr id="2" name="Rectangle 1"/>
          <p:cNvSpPr/>
          <p:nvPr/>
        </p:nvSpPr>
        <p:spPr>
          <a:xfrm>
            <a:off x="549056" y="1453872"/>
            <a:ext cx="9391650" cy="6617196"/>
          </a:xfrm>
          <a:prstGeom prst="rect">
            <a:avLst/>
          </a:prstGeom>
        </p:spPr>
        <p:txBody>
          <a:bodyPr wrap="square">
            <a:spAutoFit/>
          </a:bodyPr>
          <a:lstStyle/>
          <a:p>
            <a:pPr>
              <a:spcAft>
                <a:spcPts val="1200"/>
              </a:spcAft>
            </a:pPr>
            <a:r>
              <a:rPr lang="en-US" sz="2400" b="1" dirty="0">
                <a:solidFill>
                  <a:srgbClr val="4A86E8"/>
                </a:solidFill>
                <a:latin typeface="Arial" panose="020B0604020202020204" pitchFamily="34" charset="0"/>
              </a:rPr>
              <a:t>We aim for: </a:t>
            </a:r>
            <a:endParaRPr lang="en-US" sz="2400" dirty="0"/>
          </a:p>
          <a:p>
            <a:pPr>
              <a:spcAft>
                <a:spcPts val="1200"/>
              </a:spcAft>
            </a:pPr>
            <a:r>
              <a:rPr lang="en-US" sz="2400" b="1" dirty="0">
                <a:latin typeface="Arial" panose="020B0604020202020204" pitchFamily="34" charset="0"/>
              </a:rPr>
              <a:t>- Building an interactive mobile application for campus safety </a:t>
            </a:r>
            <a:endParaRPr lang="en-US" sz="2400" b="1" dirty="0"/>
          </a:p>
          <a:p>
            <a:pPr>
              <a:spcAft>
                <a:spcPts val="1200"/>
              </a:spcAft>
            </a:pPr>
            <a:r>
              <a:rPr lang="en-US" sz="2400" dirty="0">
                <a:latin typeface="Arial" panose="020B0604020202020204" pitchFamily="34" charset="0"/>
              </a:rPr>
              <a:t>. responsive app</a:t>
            </a:r>
            <a:endParaRPr lang="en-US" sz="2400" dirty="0"/>
          </a:p>
          <a:p>
            <a:pPr>
              <a:spcAft>
                <a:spcPts val="1200"/>
              </a:spcAft>
            </a:pPr>
            <a:r>
              <a:rPr lang="en-US" sz="2400" dirty="0">
                <a:latin typeface="Arial" panose="020B0604020202020204" pitchFamily="34" charset="0"/>
              </a:rPr>
              <a:t>. easy to use</a:t>
            </a:r>
            <a:endParaRPr lang="en-US" sz="2400" dirty="0"/>
          </a:p>
          <a:p>
            <a:pPr>
              <a:spcAft>
                <a:spcPts val="1200"/>
              </a:spcAft>
            </a:pPr>
            <a:r>
              <a:rPr lang="en-US" sz="2400" b="1" dirty="0">
                <a:latin typeface="Arial" panose="020B0604020202020204" pitchFamily="34" charset="0"/>
              </a:rPr>
              <a:t>- Increasing awareness of safety in our  university</a:t>
            </a:r>
            <a:endParaRPr lang="en-US" sz="2400" b="1" dirty="0"/>
          </a:p>
          <a:p>
            <a:pPr>
              <a:spcAft>
                <a:spcPts val="1200"/>
              </a:spcAft>
            </a:pPr>
            <a:r>
              <a:rPr lang="en-US" sz="2400" dirty="0">
                <a:latin typeface="Arial" panose="020B0604020202020204" pitchFamily="34" charset="0"/>
              </a:rPr>
              <a:t>. useable application for whenever you face a problem in campus </a:t>
            </a:r>
            <a:endParaRPr lang="en-US" sz="2400" dirty="0"/>
          </a:p>
          <a:p>
            <a:pPr>
              <a:spcAft>
                <a:spcPts val="1200"/>
              </a:spcAft>
            </a:pPr>
            <a:r>
              <a:rPr lang="en-US" sz="2400" b="1" dirty="0">
                <a:latin typeface="Arial" panose="020B0604020202020204" pitchFamily="34" charset="0"/>
              </a:rPr>
              <a:t>- Accessible resources to all students and staff</a:t>
            </a:r>
            <a:endParaRPr lang="en-US" sz="2400" b="1" dirty="0"/>
          </a:p>
          <a:p>
            <a:pPr>
              <a:spcAft>
                <a:spcPts val="1200"/>
              </a:spcAft>
            </a:pPr>
            <a:r>
              <a:rPr lang="en-US" sz="2400" dirty="0">
                <a:latin typeface="Arial" panose="020B0604020202020204" pitchFamily="34" charset="0"/>
              </a:rPr>
              <a:t>. you can use our application for general inquiries and  any safety question you have</a:t>
            </a:r>
          </a:p>
          <a:p>
            <a:pPr>
              <a:spcAft>
                <a:spcPts val="1200"/>
              </a:spcAft>
            </a:pPr>
            <a:r>
              <a:rPr lang="en-US" sz="2400" b="1" dirty="0">
                <a:latin typeface="Arial" panose="020B0604020202020204" pitchFamily="34" charset="0"/>
              </a:rPr>
              <a:t>- Monitoring students to solve any problems they may cause</a:t>
            </a:r>
          </a:p>
          <a:p>
            <a:pPr>
              <a:spcAft>
                <a:spcPts val="1200"/>
              </a:spcAft>
            </a:pPr>
            <a:r>
              <a:rPr lang="en-US" sz="2400" dirty="0"/>
              <a:t>as the security can access live cameras through the  application, and the reports sent by students.</a:t>
            </a:r>
          </a:p>
          <a:p>
            <a:br>
              <a:rPr lang="en-US" dirty="0"/>
            </a:br>
            <a:endParaRPr lang="ar-EG" dirty="0"/>
          </a:p>
        </p:txBody>
      </p:sp>
    </p:spTree>
    <p:extLst>
      <p:ext uri="{BB962C8B-B14F-4D97-AF65-F5344CB8AC3E}">
        <p14:creationId xmlns:p14="http://schemas.microsoft.com/office/powerpoint/2010/main" val="366533264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26" name="Picture 2" descr="https://lh7-us.googleusercontent.com/IR6WNmLiOeWoDS5vjkFT0szO4kKslyg9-6qHTfYPtyzUEhw3xTEw0wDfrnZ1KY3_p2e84Gi4G1Sk1Jn08RB0GRbVGt2oBVpuyd1bXedgKufPvCWS9R5SL09CL-a0KhXQdMGP53mj6kLFOyqpfTarbHR8i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7292" y="827359"/>
            <a:ext cx="3944476" cy="71365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1384586" y="2723369"/>
            <a:ext cx="5092997" cy="1529778"/>
          </a:xfrm>
          <a:prstGeom prst="rect">
            <a:avLst/>
          </a:prstGeom>
        </p:spPr>
        <p:txBody>
          <a:bodyPr wrap="none">
            <a:spAutoFit/>
          </a:bodyPr>
          <a:lstStyle/>
          <a:p>
            <a:pPr>
              <a:lnSpc>
                <a:spcPts val="5468"/>
              </a:lnSpc>
            </a:pPr>
            <a:r>
              <a:rPr lang="en-US" sz="9600" b="1" dirty="0">
                <a:solidFill>
                  <a:schemeClr val="accent4"/>
                </a:solidFill>
                <a:latin typeface="+mj-lt"/>
                <a:ea typeface="Roboto Slab" pitchFamily="34" charset="-122"/>
              </a:rPr>
              <a:t>2. </a:t>
            </a:r>
          </a:p>
          <a:p>
            <a:pPr>
              <a:lnSpc>
                <a:spcPts val="5468"/>
              </a:lnSpc>
            </a:pPr>
            <a:r>
              <a:rPr lang="en-US" sz="6000" b="1" dirty="0">
                <a:solidFill>
                  <a:schemeClr val="accent4"/>
                </a:solidFill>
                <a:latin typeface="+mj-lt"/>
                <a:ea typeface="Roboto Slab" pitchFamily="34" charset="-122"/>
                <a:cs typeface="+mj-cs"/>
              </a:rPr>
              <a:t>Project Planning</a:t>
            </a:r>
            <a:endParaRPr lang="en-US" sz="6000" b="1" dirty="0">
              <a:solidFill>
                <a:schemeClr val="accent4"/>
              </a:solidFill>
              <a:latin typeface="+mj-lt"/>
              <a:cs typeface="+mj-cs"/>
            </a:endParaRPr>
          </a:p>
        </p:txBody>
      </p:sp>
    </p:spTree>
    <p:extLst>
      <p:ext uri="{BB962C8B-B14F-4D97-AF65-F5344CB8AC3E}">
        <p14:creationId xmlns:p14="http://schemas.microsoft.com/office/powerpoint/2010/main" val="389715301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 calcmode="lin" valueType="num">
                                      <p:cBhvr additive="base">
                                        <p:cTn id="11"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965" y="472102"/>
            <a:ext cx="14118335" cy="7020080"/>
          </a:xfrm>
          <a:prstGeom prst="rect">
            <a:avLst/>
          </a:prstGeom>
        </p:spPr>
      </p:pic>
    </p:spTree>
    <p:extLst>
      <p:ext uri="{BB962C8B-B14F-4D97-AF65-F5344CB8AC3E}">
        <p14:creationId xmlns:p14="http://schemas.microsoft.com/office/powerpoint/2010/main" val="289849801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400" cy="4039076"/>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2593" y="4123249"/>
            <a:ext cx="10058400" cy="4204096"/>
          </a:xfrm>
          <a:prstGeom prst="rect">
            <a:avLst/>
          </a:prstGeom>
        </p:spPr>
      </p:pic>
    </p:spTree>
    <p:extLst>
      <p:ext uri="{BB962C8B-B14F-4D97-AF65-F5344CB8AC3E}">
        <p14:creationId xmlns:p14="http://schemas.microsoft.com/office/powerpoint/2010/main" val="389389820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48391"/>
            <a:ext cx="14565483" cy="5632744"/>
          </a:xfrm>
          <a:prstGeom prst="rect">
            <a:avLst/>
          </a:prstGeom>
        </p:spPr>
      </p:pic>
    </p:spTree>
    <p:extLst>
      <p:ext uri="{BB962C8B-B14F-4D97-AF65-F5344CB8AC3E}">
        <p14:creationId xmlns:p14="http://schemas.microsoft.com/office/powerpoint/2010/main" val="269034022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450" y="679807"/>
            <a:ext cx="14000509" cy="5720992"/>
          </a:xfrm>
          <a:prstGeom prst="rect">
            <a:avLst/>
          </a:prstGeom>
        </p:spPr>
      </p:pic>
    </p:spTree>
    <p:extLst>
      <p:ext uri="{BB962C8B-B14F-4D97-AF65-F5344CB8AC3E}">
        <p14:creationId xmlns:p14="http://schemas.microsoft.com/office/powerpoint/2010/main" val="335318690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923" y="732810"/>
            <a:ext cx="13989965" cy="5894132"/>
          </a:xfrm>
          <a:prstGeom prst="rect">
            <a:avLst/>
          </a:prstGeom>
        </p:spPr>
      </p:pic>
    </p:spTree>
    <p:extLst>
      <p:ext uri="{BB962C8B-B14F-4D97-AF65-F5344CB8AC3E}">
        <p14:creationId xmlns:p14="http://schemas.microsoft.com/office/powerpoint/2010/main" val="417058821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26" name="Picture 2" descr="https://lh7-us.googleusercontent.com/IR6WNmLiOeWoDS5vjkFT0szO4kKslyg9-6qHTfYPtyzUEhw3xTEw0wDfrnZ1KY3_p2e84Gi4G1Sk1Jn08RB0GRbVGt2oBVpuyd1bXedgKufPvCWS9R5SL09CL-a0KhXQdMGP53mj6kLFOyqpfTarbHR8i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7292" y="827359"/>
            <a:ext cx="3944476" cy="71365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1384586" y="2723369"/>
            <a:ext cx="4258217" cy="1529778"/>
          </a:xfrm>
          <a:prstGeom prst="rect">
            <a:avLst/>
          </a:prstGeom>
        </p:spPr>
        <p:txBody>
          <a:bodyPr wrap="none">
            <a:spAutoFit/>
          </a:bodyPr>
          <a:lstStyle/>
          <a:p>
            <a:pPr>
              <a:lnSpc>
                <a:spcPts val="5468"/>
              </a:lnSpc>
            </a:pPr>
            <a:r>
              <a:rPr lang="en-US" sz="9600" b="1" dirty="0">
                <a:solidFill>
                  <a:schemeClr val="accent4"/>
                </a:solidFill>
                <a:latin typeface="+mj-lt"/>
                <a:ea typeface="Roboto Slab" pitchFamily="34" charset="-122"/>
              </a:rPr>
              <a:t>3.</a:t>
            </a:r>
          </a:p>
          <a:p>
            <a:pPr>
              <a:lnSpc>
                <a:spcPts val="5468"/>
              </a:lnSpc>
            </a:pPr>
            <a:r>
              <a:rPr lang="en-US" sz="6000" b="1" dirty="0">
                <a:solidFill>
                  <a:schemeClr val="accent4"/>
                </a:solidFill>
                <a:latin typeface="+mj-lt"/>
                <a:cs typeface="+mj-cs"/>
              </a:rPr>
              <a:t>Related Work</a:t>
            </a:r>
          </a:p>
        </p:txBody>
      </p:sp>
    </p:spTree>
    <p:extLst>
      <p:ext uri="{BB962C8B-B14F-4D97-AF65-F5344CB8AC3E}">
        <p14:creationId xmlns:p14="http://schemas.microsoft.com/office/powerpoint/2010/main" val="261936922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845" y="1316601"/>
            <a:ext cx="3019425" cy="316230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54497" y="1206295"/>
            <a:ext cx="4310080" cy="3382912"/>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10779" y="708955"/>
            <a:ext cx="5295608" cy="3982810"/>
          </a:xfrm>
          <a:prstGeom prst="rect">
            <a:avLst/>
          </a:prstGeom>
        </p:spPr>
      </p:pic>
      <p:sp>
        <p:nvSpPr>
          <p:cNvPr id="7" name="TextBox 6"/>
          <p:cNvSpPr txBox="1"/>
          <p:nvPr/>
        </p:nvSpPr>
        <p:spPr>
          <a:xfrm>
            <a:off x="607163" y="4584598"/>
            <a:ext cx="3442481" cy="1015663"/>
          </a:xfrm>
          <a:prstGeom prst="rect">
            <a:avLst/>
          </a:prstGeom>
          <a:noFill/>
        </p:spPr>
        <p:txBody>
          <a:bodyPr wrap="none" rtlCol="1">
            <a:spAutoFit/>
          </a:bodyPr>
          <a:lstStyle/>
          <a:p>
            <a:r>
              <a:rPr lang="en-US" sz="6000" b="1" dirty="0">
                <a:solidFill>
                  <a:schemeClr val="accent4"/>
                </a:solidFill>
              </a:rPr>
              <a:t>OWL SAFE</a:t>
            </a:r>
            <a:endParaRPr lang="ar-EG" sz="6000" b="1" dirty="0">
              <a:solidFill>
                <a:schemeClr val="accent4"/>
              </a:solidFill>
            </a:endParaRPr>
          </a:p>
        </p:txBody>
      </p:sp>
      <p:sp>
        <p:nvSpPr>
          <p:cNvPr id="8" name="TextBox 7"/>
          <p:cNvSpPr txBox="1"/>
          <p:nvPr/>
        </p:nvSpPr>
        <p:spPr>
          <a:xfrm>
            <a:off x="5649456" y="4589207"/>
            <a:ext cx="3289555" cy="1015663"/>
          </a:xfrm>
          <a:prstGeom prst="rect">
            <a:avLst/>
          </a:prstGeom>
          <a:noFill/>
        </p:spPr>
        <p:txBody>
          <a:bodyPr wrap="none" rtlCol="1">
            <a:spAutoFit/>
          </a:bodyPr>
          <a:lstStyle/>
          <a:p>
            <a:r>
              <a:rPr lang="en-US" sz="6000" b="1" dirty="0">
                <a:solidFill>
                  <a:schemeClr val="accent4"/>
                </a:solidFill>
              </a:rPr>
              <a:t>Safe Zone</a:t>
            </a:r>
            <a:endParaRPr lang="ar-EG" sz="6000" b="1" dirty="0">
              <a:solidFill>
                <a:schemeClr val="accent4"/>
              </a:solidFill>
            </a:endParaRPr>
          </a:p>
        </p:txBody>
      </p:sp>
      <p:sp>
        <p:nvSpPr>
          <p:cNvPr id="9" name="Rectangle 8"/>
          <p:cNvSpPr/>
          <p:nvPr/>
        </p:nvSpPr>
        <p:spPr>
          <a:xfrm>
            <a:off x="10538823" y="4589206"/>
            <a:ext cx="2976392" cy="1015663"/>
          </a:xfrm>
          <a:prstGeom prst="rect">
            <a:avLst/>
          </a:prstGeom>
        </p:spPr>
        <p:txBody>
          <a:bodyPr wrap="none">
            <a:spAutoFit/>
          </a:bodyPr>
          <a:lstStyle/>
          <a:p>
            <a:r>
              <a:rPr lang="en-US" sz="6000" b="1" dirty="0">
                <a:solidFill>
                  <a:schemeClr val="accent4"/>
                </a:solidFill>
              </a:rPr>
              <a:t>Live Safe</a:t>
            </a:r>
            <a:endParaRPr lang="ar-EG" sz="6000" b="1" dirty="0">
              <a:solidFill>
                <a:schemeClr val="accent4"/>
              </a:solidFill>
            </a:endParaRPr>
          </a:p>
        </p:txBody>
      </p:sp>
    </p:spTree>
    <p:extLst>
      <p:ext uri="{BB962C8B-B14F-4D97-AF65-F5344CB8AC3E}">
        <p14:creationId xmlns:p14="http://schemas.microsoft.com/office/powerpoint/2010/main" val="8206766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9" name="Rectangle 8"/>
          <p:cNvSpPr/>
          <p:nvPr/>
        </p:nvSpPr>
        <p:spPr>
          <a:xfrm>
            <a:off x="481072" y="632459"/>
            <a:ext cx="3302443" cy="1529778"/>
          </a:xfrm>
          <a:prstGeom prst="rect">
            <a:avLst/>
          </a:prstGeom>
        </p:spPr>
        <p:txBody>
          <a:bodyPr wrap="none">
            <a:spAutoFit/>
          </a:bodyPr>
          <a:lstStyle/>
          <a:p>
            <a:pPr>
              <a:lnSpc>
                <a:spcPts val="5468"/>
              </a:lnSpc>
            </a:pPr>
            <a:r>
              <a:rPr lang="en-US" sz="9600" b="1" dirty="0">
                <a:solidFill>
                  <a:schemeClr val="accent4"/>
                </a:solidFill>
                <a:latin typeface="+mj-lt"/>
                <a:ea typeface="Roboto Slab" pitchFamily="34" charset="-122"/>
              </a:rPr>
              <a:t>1.</a:t>
            </a:r>
          </a:p>
          <a:p>
            <a:pPr>
              <a:lnSpc>
                <a:spcPts val="5468"/>
              </a:lnSpc>
            </a:pPr>
            <a:r>
              <a:rPr lang="en-US" sz="6000" b="1" dirty="0">
                <a:solidFill>
                  <a:schemeClr val="accent4"/>
                </a:solidFill>
                <a:latin typeface="+mj-lt"/>
                <a:cs typeface="+mj-cs"/>
              </a:rPr>
              <a:t>OWL SAFE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01472" y="160118"/>
            <a:ext cx="3019425" cy="3162300"/>
          </a:xfrm>
          <a:prstGeom prst="rect">
            <a:avLst/>
          </a:prstGeom>
        </p:spPr>
      </p:pic>
      <p:sp>
        <p:nvSpPr>
          <p:cNvPr id="6" name="Shape 9"/>
          <p:cNvSpPr/>
          <p:nvPr/>
        </p:nvSpPr>
        <p:spPr>
          <a:xfrm>
            <a:off x="481072" y="2306920"/>
            <a:ext cx="7944471" cy="4207328"/>
          </a:xfrm>
          <a:prstGeom prst="roundRect">
            <a:avLst>
              <a:gd name="adj" fmla="val 6386"/>
            </a:avLst>
          </a:prstGeom>
          <a:solidFill>
            <a:srgbClr val="E7EDF9"/>
          </a:solidFill>
          <a:ln/>
        </p:spPr>
        <p:txBody>
          <a:bodyPr/>
          <a:lstStyle/>
          <a:p>
            <a:endParaRPr lang="ar-EG"/>
          </a:p>
        </p:txBody>
      </p:sp>
      <p:sp>
        <p:nvSpPr>
          <p:cNvPr id="3" name="TextBox 2"/>
          <p:cNvSpPr txBox="1"/>
          <p:nvPr/>
        </p:nvSpPr>
        <p:spPr>
          <a:xfrm>
            <a:off x="718459" y="2595176"/>
            <a:ext cx="7587342" cy="3785652"/>
          </a:xfrm>
          <a:prstGeom prst="rect">
            <a:avLst/>
          </a:prstGeom>
          <a:noFill/>
        </p:spPr>
        <p:txBody>
          <a:bodyPr wrap="square" rtlCol="1">
            <a:spAutoFit/>
          </a:bodyPr>
          <a:lstStyle/>
          <a:p>
            <a:r>
              <a:rPr lang="en-US" sz="2400" dirty="0"/>
              <a:t>Partner in creating a secure and protected learning environment. </a:t>
            </a:r>
          </a:p>
          <a:p>
            <a:r>
              <a:rPr lang="en-US" sz="2400" dirty="0"/>
              <a:t>Designed with cutting-edge technology and a commitment to safeguarding educational institutions.</a:t>
            </a:r>
          </a:p>
          <a:p>
            <a:r>
              <a:rPr lang="en-US" sz="2400" dirty="0"/>
              <a:t>. Instant emergency notifications </a:t>
            </a:r>
          </a:p>
          <a:p>
            <a:r>
              <a:rPr lang="en-US" sz="2400" dirty="0"/>
              <a:t>. Two-Way communication </a:t>
            </a:r>
          </a:p>
          <a:p>
            <a:r>
              <a:rPr lang="en-US" sz="2400" dirty="0"/>
              <a:t>. Safety Check-Ins </a:t>
            </a:r>
          </a:p>
          <a:p>
            <a:r>
              <a:rPr lang="en-US" sz="2400" dirty="0"/>
              <a:t>. Safety tips and resources </a:t>
            </a:r>
          </a:p>
          <a:p>
            <a:r>
              <a:rPr lang="en-US" sz="2400" dirty="0"/>
              <a:t>. </a:t>
            </a:r>
            <a:r>
              <a:rPr lang="en-US" sz="2400" dirty="0" err="1"/>
              <a:t>SoS</a:t>
            </a:r>
            <a:r>
              <a:rPr lang="en-US" sz="2400" dirty="0"/>
              <a:t> button </a:t>
            </a:r>
          </a:p>
          <a:p>
            <a:r>
              <a:rPr lang="en-US" sz="2400" dirty="0"/>
              <a:t>. Anonymous reporting</a:t>
            </a:r>
            <a:endParaRPr lang="ar-EG" sz="2400" dirty="0"/>
          </a:p>
        </p:txBody>
      </p:sp>
    </p:spTree>
    <p:extLst>
      <p:ext uri="{BB962C8B-B14F-4D97-AF65-F5344CB8AC3E}">
        <p14:creationId xmlns:p14="http://schemas.microsoft.com/office/powerpoint/2010/main" val="66663251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75979" y="0"/>
            <a:ext cx="10033735" cy="9430400"/>
          </a:xfrm>
          <a:prstGeom prst="rect">
            <a:avLst/>
          </a:prstGeom>
        </p:spPr>
      </p:pic>
    </p:spTree>
    <p:extLst>
      <p:ext uri="{BB962C8B-B14F-4D97-AF65-F5344CB8AC3E}">
        <p14:creationId xmlns:p14="http://schemas.microsoft.com/office/powerpoint/2010/main" val="362471403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9" name="Rectangle 8"/>
          <p:cNvSpPr/>
          <p:nvPr/>
        </p:nvSpPr>
        <p:spPr>
          <a:xfrm>
            <a:off x="481072" y="632459"/>
            <a:ext cx="3125407" cy="1529778"/>
          </a:xfrm>
          <a:prstGeom prst="rect">
            <a:avLst/>
          </a:prstGeom>
        </p:spPr>
        <p:txBody>
          <a:bodyPr wrap="none">
            <a:spAutoFit/>
          </a:bodyPr>
          <a:lstStyle/>
          <a:p>
            <a:pPr>
              <a:lnSpc>
                <a:spcPts val="5468"/>
              </a:lnSpc>
            </a:pPr>
            <a:r>
              <a:rPr lang="en-US" sz="9600" b="1" dirty="0">
                <a:solidFill>
                  <a:schemeClr val="accent4"/>
                </a:solidFill>
                <a:latin typeface="+mj-lt"/>
                <a:ea typeface="Roboto Slab" pitchFamily="34" charset="-122"/>
              </a:rPr>
              <a:t>2.</a:t>
            </a:r>
          </a:p>
          <a:p>
            <a:pPr>
              <a:lnSpc>
                <a:spcPts val="5468"/>
              </a:lnSpc>
            </a:pPr>
            <a:r>
              <a:rPr lang="en-US" sz="6000" b="1" dirty="0">
                <a:solidFill>
                  <a:schemeClr val="accent4"/>
                </a:solidFill>
                <a:latin typeface="+mj-lt"/>
                <a:cs typeface="+mj-cs"/>
              </a:rPr>
              <a:t>Safe Zone</a:t>
            </a:r>
          </a:p>
        </p:txBody>
      </p:sp>
      <p:sp>
        <p:nvSpPr>
          <p:cNvPr id="6" name="Shape 9"/>
          <p:cNvSpPr/>
          <p:nvPr/>
        </p:nvSpPr>
        <p:spPr>
          <a:xfrm>
            <a:off x="481072" y="2306920"/>
            <a:ext cx="7944471" cy="4949286"/>
          </a:xfrm>
          <a:prstGeom prst="roundRect">
            <a:avLst>
              <a:gd name="adj" fmla="val 6386"/>
            </a:avLst>
          </a:prstGeom>
          <a:solidFill>
            <a:srgbClr val="E7EDF9"/>
          </a:solidFill>
          <a:ln/>
        </p:spPr>
        <p:txBody>
          <a:bodyPr/>
          <a:lstStyle/>
          <a:p>
            <a:endParaRPr lang="ar-EG"/>
          </a:p>
        </p:txBody>
      </p:sp>
      <p:sp>
        <p:nvSpPr>
          <p:cNvPr id="3" name="TextBox 2"/>
          <p:cNvSpPr txBox="1"/>
          <p:nvPr/>
        </p:nvSpPr>
        <p:spPr>
          <a:xfrm>
            <a:off x="718459" y="2595176"/>
            <a:ext cx="7587342" cy="4154984"/>
          </a:xfrm>
          <a:prstGeom prst="rect">
            <a:avLst/>
          </a:prstGeom>
          <a:noFill/>
        </p:spPr>
        <p:txBody>
          <a:bodyPr wrap="square" rtlCol="1">
            <a:spAutoFit/>
          </a:bodyPr>
          <a:lstStyle/>
          <a:p>
            <a:r>
              <a:rPr lang="en-US" sz="2400" dirty="0"/>
              <a:t>free-to-download application from Critical Arc that connects you directly to your organization's response team when you need help.</a:t>
            </a:r>
          </a:p>
          <a:p>
            <a:r>
              <a:rPr lang="en-US" sz="2400" dirty="0"/>
              <a:t>When you are in any Safe Zone area designated by your organization, the mobile app provides a variety of safety features, including: - Emergency alerts: Safe Zone can send emergency alerts to users in the event of a campus emergency. - Check-ins: Safe Zone allows users to check in with security personnel when they are walking alone or working late. - First aid calls: Safe Zone allows users to call for first aid assistance in the event of an injury or illness.</a:t>
            </a:r>
            <a:endParaRPr lang="ar-EG" sz="2400"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3380" y="-235662"/>
            <a:ext cx="5295608" cy="3982810"/>
          </a:xfrm>
          <a:prstGeom prst="rect">
            <a:avLst/>
          </a:prstGeom>
        </p:spPr>
      </p:pic>
    </p:spTree>
    <p:extLst>
      <p:ext uri="{BB962C8B-B14F-4D97-AF65-F5344CB8AC3E}">
        <p14:creationId xmlns:p14="http://schemas.microsoft.com/office/powerpoint/2010/main" val="72790605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pic>
        <p:nvPicPr>
          <p:cNvPr id="5" name="Picture 2" descr="https://lh7-us.googleusercontent.com/ZXo7hLsAwdgJCBLajp3x3--qxwcDVquNuihnfnrvAZgvJAI6gZwTHEetJ37-giSuA2XX-PihqPXeI23939LE7v3VJbMheOYzqc2jgIhctXXLg8iSiOYH-PiJ3rXy32vtks9ANdCLf6AoxNtvKOiCFt_HOg=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194" y="758377"/>
            <a:ext cx="13246780" cy="6706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94474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9" name="Rectangle 8"/>
          <p:cNvSpPr/>
          <p:nvPr/>
        </p:nvSpPr>
        <p:spPr>
          <a:xfrm>
            <a:off x="481072" y="632459"/>
            <a:ext cx="3015505" cy="1529778"/>
          </a:xfrm>
          <a:prstGeom prst="rect">
            <a:avLst/>
          </a:prstGeom>
        </p:spPr>
        <p:txBody>
          <a:bodyPr wrap="none">
            <a:spAutoFit/>
          </a:bodyPr>
          <a:lstStyle/>
          <a:p>
            <a:pPr>
              <a:lnSpc>
                <a:spcPts val="5468"/>
              </a:lnSpc>
            </a:pPr>
            <a:r>
              <a:rPr lang="en-US" sz="9600" b="1" dirty="0">
                <a:solidFill>
                  <a:schemeClr val="accent4"/>
                </a:solidFill>
                <a:latin typeface="+mj-lt"/>
                <a:ea typeface="Roboto Slab" pitchFamily="34" charset="-122"/>
              </a:rPr>
              <a:t>3.</a:t>
            </a:r>
          </a:p>
          <a:p>
            <a:pPr>
              <a:lnSpc>
                <a:spcPts val="5468"/>
              </a:lnSpc>
            </a:pPr>
            <a:r>
              <a:rPr lang="en-US" sz="6000" b="1" dirty="0">
                <a:solidFill>
                  <a:schemeClr val="accent4"/>
                </a:solidFill>
                <a:latin typeface="+mj-lt"/>
                <a:cs typeface="+mj-cs"/>
              </a:rPr>
              <a:t>Live SAFE</a:t>
            </a:r>
          </a:p>
        </p:txBody>
      </p:sp>
      <p:sp>
        <p:nvSpPr>
          <p:cNvPr id="6" name="Shape 9"/>
          <p:cNvSpPr/>
          <p:nvPr/>
        </p:nvSpPr>
        <p:spPr>
          <a:xfrm>
            <a:off x="481072" y="2306920"/>
            <a:ext cx="7944471" cy="4207328"/>
          </a:xfrm>
          <a:prstGeom prst="roundRect">
            <a:avLst>
              <a:gd name="adj" fmla="val 6386"/>
            </a:avLst>
          </a:prstGeom>
          <a:solidFill>
            <a:srgbClr val="E7EDF9"/>
          </a:solidFill>
          <a:ln/>
        </p:spPr>
        <p:txBody>
          <a:bodyPr/>
          <a:lstStyle/>
          <a:p>
            <a:endParaRPr lang="ar-EG"/>
          </a:p>
        </p:txBody>
      </p:sp>
      <p:sp>
        <p:nvSpPr>
          <p:cNvPr id="3" name="TextBox 2"/>
          <p:cNvSpPr txBox="1"/>
          <p:nvPr/>
        </p:nvSpPr>
        <p:spPr>
          <a:xfrm>
            <a:off x="718459" y="2595176"/>
            <a:ext cx="7587342" cy="3416320"/>
          </a:xfrm>
          <a:prstGeom prst="rect">
            <a:avLst/>
          </a:prstGeom>
          <a:noFill/>
        </p:spPr>
        <p:txBody>
          <a:bodyPr wrap="square" rtlCol="1">
            <a:spAutoFit/>
          </a:bodyPr>
          <a:lstStyle/>
          <a:p>
            <a:r>
              <a:rPr lang="en-US" sz="2400" dirty="0"/>
              <a:t>designed to empower Individuals and organizations with the tools they need to enhance safety, and communication in -Real Time- - Users can access a real-time safety map, which displays reported incidents and areas to avoid - Access a wealth of safety resources and information, including emergency contact numbers - Anonymous Reporting: Live Safe enables anonymous reporting, encouraging users to share concerns without fear of retaliation. </a:t>
            </a:r>
            <a:endParaRPr lang="ar-EG" sz="2400"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7320" y="89139"/>
            <a:ext cx="4310080" cy="3382912"/>
          </a:xfrm>
          <a:prstGeom prst="rect">
            <a:avLst/>
          </a:prstGeom>
        </p:spPr>
      </p:pic>
    </p:spTree>
    <p:extLst>
      <p:ext uri="{BB962C8B-B14F-4D97-AF65-F5344CB8AC3E}">
        <p14:creationId xmlns:p14="http://schemas.microsoft.com/office/powerpoint/2010/main" val="153645066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902493" y="202712"/>
            <a:ext cx="8060473" cy="8026888"/>
          </a:xfrm>
          <a:prstGeom prst="rect">
            <a:avLst/>
          </a:prstGeom>
        </p:spPr>
      </p:pic>
    </p:spTree>
    <p:extLst>
      <p:ext uri="{BB962C8B-B14F-4D97-AF65-F5344CB8AC3E}">
        <p14:creationId xmlns:p14="http://schemas.microsoft.com/office/powerpoint/2010/main" val="351632225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05890987"/>
              </p:ext>
            </p:extLst>
          </p:nvPr>
        </p:nvGraphicFramePr>
        <p:xfrm>
          <a:off x="1278194" y="845574"/>
          <a:ext cx="11208775" cy="6598428"/>
        </p:xfrm>
        <a:graphic>
          <a:graphicData uri="http://schemas.openxmlformats.org/drawingml/2006/table">
            <a:tbl>
              <a:tblPr rtl="1" firstRow="1" bandRow="1">
                <a:tableStyleId>{5C22544A-7EE6-4342-B048-85BDC9FD1C3A}</a:tableStyleId>
              </a:tblPr>
              <a:tblGrid>
                <a:gridCol w="2241755">
                  <a:extLst>
                    <a:ext uri="{9D8B030D-6E8A-4147-A177-3AD203B41FA5}">
                      <a16:colId xmlns:a16="http://schemas.microsoft.com/office/drawing/2014/main" val="20000"/>
                    </a:ext>
                  </a:extLst>
                </a:gridCol>
                <a:gridCol w="2241755">
                  <a:extLst>
                    <a:ext uri="{9D8B030D-6E8A-4147-A177-3AD203B41FA5}">
                      <a16:colId xmlns:a16="http://schemas.microsoft.com/office/drawing/2014/main" val="20001"/>
                    </a:ext>
                  </a:extLst>
                </a:gridCol>
                <a:gridCol w="2241755">
                  <a:extLst>
                    <a:ext uri="{9D8B030D-6E8A-4147-A177-3AD203B41FA5}">
                      <a16:colId xmlns:a16="http://schemas.microsoft.com/office/drawing/2014/main" val="20002"/>
                    </a:ext>
                  </a:extLst>
                </a:gridCol>
                <a:gridCol w="2241755">
                  <a:extLst>
                    <a:ext uri="{9D8B030D-6E8A-4147-A177-3AD203B41FA5}">
                      <a16:colId xmlns:a16="http://schemas.microsoft.com/office/drawing/2014/main" val="20003"/>
                    </a:ext>
                  </a:extLst>
                </a:gridCol>
                <a:gridCol w="2241755">
                  <a:extLst>
                    <a:ext uri="{9D8B030D-6E8A-4147-A177-3AD203B41FA5}">
                      <a16:colId xmlns:a16="http://schemas.microsoft.com/office/drawing/2014/main" val="20004"/>
                    </a:ext>
                  </a:extLst>
                </a:gridCol>
              </a:tblGrid>
              <a:tr h="816083">
                <a:tc>
                  <a:txBody>
                    <a:bodyPr/>
                    <a:lstStyle/>
                    <a:p>
                      <a:pPr algn="ctr" rtl="1"/>
                      <a:r>
                        <a:rPr lang="en-US" sz="3200" dirty="0">
                          <a:solidFill>
                            <a:schemeClr val="tx1"/>
                          </a:solidFill>
                        </a:rPr>
                        <a:t>Safe</a:t>
                      </a:r>
                      <a:r>
                        <a:rPr lang="en-US" sz="3200" baseline="0" dirty="0">
                          <a:solidFill>
                            <a:schemeClr val="tx1"/>
                          </a:solidFill>
                        </a:rPr>
                        <a:t> </a:t>
                      </a:r>
                      <a:r>
                        <a:rPr lang="en-US" sz="3200" dirty="0">
                          <a:solidFill>
                            <a:schemeClr val="tx1"/>
                          </a:solidFill>
                        </a:rPr>
                        <a:t>Campus</a:t>
                      </a:r>
                      <a:endParaRPr lang="ar-EG" sz="3200" dirty="0">
                        <a:solidFill>
                          <a:schemeClr val="tx1"/>
                        </a:solidFill>
                      </a:endParaRPr>
                    </a:p>
                  </a:txBody>
                  <a:tcPr>
                    <a:solidFill>
                      <a:schemeClr val="accent4"/>
                    </a:solidFill>
                  </a:tcPr>
                </a:tc>
                <a:tc>
                  <a:txBody>
                    <a:bodyPr/>
                    <a:lstStyle/>
                    <a:p>
                      <a:pPr rtl="1"/>
                      <a:endParaRPr lang="en-US" dirty="0"/>
                    </a:p>
                    <a:p>
                      <a:pPr algn="ctr" rtl="1"/>
                      <a:r>
                        <a:rPr lang="en-US" sz="3200" dirty="0">
                          <a:solidFill>
                            <a:schemeClr val="tx1"/>
                          </a:solidFill>
                        </a:rPr>
                        <a:t>Live Safe</a:t>
                      </a:r>
                      <a:endParaRPr lang="ar-EG" sz="3200" dirty="0">
                        <a:solidFill>
                          <a:schemeClr val="tx1"/>
                        </a:solidFill>
                      </a:endParaRPr>
                    </a:p>
                  </a:txBody>
                  <a:tcPr>
                    <a:solidFill>
                      <a:schemeClr val="accent4"/>
                    </a:solidFill>
                  </a:tcPr>
                </a:tc>
                <a:tc>
                  <a:txBody>
                    <a:bodyPr/>
                    <a:lstStyle/>
                    <a:p>
                      <a:pPr rtl="1"/>
                      <a:endParaRPr lang="en-US" dirty="0"/>
                    </a:p>
                    <a:p>
                      <a:pPr algn="ctr" rtl="1"/>
                      <a:r>
                        <a:rPr lang="en-US" sz="3200" dirty="0">
                          <a:solidFill>
                            <a:schemeClr val="tx1"/>
                          </a:solidFill>
                        </a:rPr>
                        <a:t>Safe Zone</a:t>
                      </a:r>
                      <a:endParaRPr lang="ar-EG" sz="3200" dirty="0">
                        <a:solidFill>
                          <a:schemeClr val="tx1"/>
                        </a:solidFill>
                      </a:endParaRPr>
                    </a:p>
                  </a:txBody>
                  <a:tcPr>
                    <a:solidFill>
                      <a:schemeClr val="accent4"/>
                    </a:solidFill>
                  </a:tcPr>
                </a:tc>
                <a:tc>
                  <a:txBody>
                    <a:bodyPr/>
                    <a:lstStyle/>
                    <a:p>
                      <a:pPr rtl="1"/>
                      <a:endParaRPr lang="en-US" dirty="0"/>
                    </a:p>
                    <a:p>
                      <a:pPr algn="ctr" rtl="1"/>
                      <a:r>
                        <a:rPr lang="en-US" sz="3200" dirty="0">
                          <a:solidFill>
                            <a:schemeClr val="tx1"/>
                          </a:solidFill>
                        </a:rPr>
                        <a:t>OWL</a:t>
                      </a:r>
                      <a:r>
                        <a:rPr lang="en-US" sz="3200" baseline="0" dirty="0">
                          <a:solidFill>
                            <a:schemeClr val="tx1"/>
                          </a:solidFill>
                        </a:rPr>
                        <a:t> SAFE</a:t>
                      </a:r>
                      <a:endParaRPr lang="ar-EG" sz="3200" dirty="0">
                        <a:solidFill>
                          <a:schemeClr val="tx1"/>
                        </a:solidFill>
                      </a:endParaRPr>
                    </a:p>
                  </a:txBody>
                  <a:tcPr>
                    <a:solidFill>
                      <a:schemeClr val="accent4"/>
                    </a:solidFill>
                  </a:tcPr>
                </a:tc>
                <a:tc>
                  <a:txBody>
                    <a:bodyPr/>
                    <a:lstStyle/>
                    <a:p>
                      <a:pPr rtl="1"/>
                      <a:endParaRPr lang="ar-EG" dirty="0"/>
                    </a:p>
                  </a:txBody>
                  <a:tcPr>
                    <a:solidFill>
                      <a:schemeClr val="bg1"/>
                    </a:solidFill>
                  </a:tcPr>
                </a:tc>
                <a:extLst>
                  <a:ext uri="{0D108BD9-81ED-4DB2-BD59-A6C34878D82A}">
                    <a16:rowId xmlns:a16="http://schemas.microsoft.com/office/drawing/2014/main" val="10000"/>
                  </a:ext>
                </a:extLst>
              </a:tr>
              <a:tr h="1071716">
                <a:tc>
                  <a:txBody>
                    <a:bodyPr/>
                    <a:lstStyle/>
                    <a:p>
                      <a:pPr rtl="1"/>
                      <a:endParaRPr lang="en-US" dirty="0"/>
                    </a:p>
                    <a:p>
                      <a:pPr algn="ctr" rtl="1"/>
                      <a:r>
                        <a:rPr lang="en-US" sz="3200" dirty="0"/>
                        <a:t>Yes</a:t>
                      </a:r>
                      <a:endParaRPr lang="ar-EG" sz="3200" dirty="0"/>
                    </a:p>
                  </a:txBody>
                  <a:tcPr/>
                </a:tc>
                <a:tc>
                  <a:txBody>
                    <a:bodyPr/>
                    <a:lstStyle/>
                    <a:p>
                      <a:pPr algn="ctr" rtl="1"/>
                      <a:endParaRPr lang="en-US" dirty="0"/>
                    </a:p>
                    <a:p>
                      <a:pPr algn="ctr" rtl="1"/>
                      <a:r>
                        <a:rPr lang="en-US" sz="2800" dirty="0"/>
                        <a:t>No</a:t>
                      </a:r>
                      <a:endParaRPr lang="ar-EG" sz="2800" dirty="0"/>
                    </a:p>
                  </a:txBody>
                  <a:tcPr/>
                </a:tc>
                <a:tc>
                  <a:txBody>
                    <a:bodyPr/>
                    <a:lstStyle/>
                    <a:p>
                      <a:pPr algn="ctr" rtl="1"/>
                      <a:endParaRPr lang="en-US" dirty="0"/>
                    </a:p>
                    <a:p>
                      <a:pPr algn="ctr" rtl="1"/>
                      <a:r>
                        <a:rPr lang="en-US" sz="2800" dirty="0"/>
                        <a:t>No</a:t>
                      </a:r>
                      <a:endParaRPr lang="ar-EG" sz="2800" dirty="0"/>
                    </a:p>
                  </a:txBody>
                  <a:tcPr/>
                </a:tc>
                <a:tc>
                  <a:txBody>
                    <a:bodyPr/>
                    <a:lstStyle/>
                    <a:p>
                      <a:pPr rtl="1"/>
                      <a:endParaRPr lang="ar-EG" dirty="0"/>
                    </a:p>
                    <a:p>
                      <a:pPr algn="ctr" rtl="1"/>
                      <a:r>
                        <a:rPr lang="en-US" sz="2800" dirty="0"/>
                        <a:t>No</a:t>
                      </a:r>
                      <a:endParaRPr lang="ar-EG" sz="2800" dirty="0"/>
                    </a:p>
                  </a:txBody>
                  <a:tcPr/>
                </a:tc>
                <a:tc>
                  <a:txBody>
                    <a:bodyPr/>
                    <a:lstStyle/>
                    <a:p>
                      <a:pPr rtl="1"/>
                      <a:endParaRPr lang="en-US" dirty="0"/>
                    </a:p>
                    <a:p>
                      <a:pPr algn="ctr" rtl="1"/>
                      <a:r>
                        <a:rPr lang="en-US" sz="2800" dirty="0"/>
                        <a:t>Live</a:t>
                      </a:r>
                      <a:r>
                        <a:rPr lang="en-US" sz="2800" baseline="0" dirty="0"/>
                        <a:t> Camera</a:t>
                      </a:r>
                      <a:endParaRPr lang="ar-EG" sz="2800" dirty="0"/>
                    </a:p>
                  </a:txBody>
                  <a:tcPr/>
                </a:tc>
                <a:extLst>
                  <a:ext uri="{0D108BD9-81ED-4DB2-BD59-A6C34878D82A}">
                    <a16:rowId xmlns:a16="http://schemas.microsoft.com/office/drawing/2014/main" val="10001"/>
                  </a:ext>
                </a:extLst>
              </a:tr>
              <a:tr h="1071716">
                <a:tc>
                  <a:txBody>
                    <a:bodyPr/>
                    <a:lstStyle/>
                    <a:p>
                      <a:pPr rtl="1"/>
                      <a:endParaRPr lang="en-US" dirty="0"/>
                    </a:p>
                    <a:p>
                      <a:pPr algn="ctr" rtl="1"/>
                      <a:r>
                        <a:rPr lang="en-US" sz="2800" dirty="0"/>
                        <a:t>Yes</a:t>
                      </a:r>
                      <a:endParaRPr lang="ar-EG" sz="2800" dirty="0"/>
                    </a:p>
                  </a:txBody>
                  <a:tcPr/>
                </a:tc>
                <a:tc>
                  <a:txBody>
                    <a:bodyPr/>
                    <a:lstStyle/>
                    <a:p>
                      <a:pPr rtl="1"/>
                      <a:endParaRPr lang="ar-EG" dirty="0"/>
                    </a:p>
                    <a:p>
                      <a:pPr algn="ctr" rtl="1"/>
                      <a:r>
                        <a:rPr lang="en-US" sz="2800" dirty="0"/>
                        <a:t>Yes</a:t>
                      </a:r>
                      <a:endParaRPr lang="ar-EG" sz="2800" dirty="0"/>
                    </a:p>
                  </a:txBody>
                  <a:tcPr/>
                </a:tc>
                <a:tc>
                  <a:txBody>
                    <a:bodyPr/>
                    <a:lstStyle/>
                    <a:p>
                      <a:pPr rtl="1"/>
                      <a:endParaRPr lang="en-US" dirty="0"/>
                    </a:p>
                    <a:p>
                      <a:pPr algn="ctr" rtl="1"/>
                      <a:r>
                        <a:rPr lang="en-US" sz="2800" dirty="0"/>
                        <a:t>No</a:t>
                      </a:r>
                      <a:endParaRPr lang="ar-EG" sz="2800" dirty="0"/>
                    </a:p>
                  </a:txBody>
                  <a:tcPr/>
                </a:tc>
                <a:tc>
                  <a:txBody>
                    <a:bodyPr/>
                    <a:lstStyle/>
                    <a:p>
                      <a:pPr rtl="1"/>
                      <a:endParaRPr lang="en-US" dirty="0"/>
                    </a:p>
                    <a:p>
                      <a:pPr algn="ctr" rtl="1"/>
                      <a:r>
                        <a:rPr lang="en-US" sz="2800" dirty="0"/>
                        <a:t>Yes</a:t>
                      </a:r>
                      <a:endParaRPr lang="ar-EG" sz="2800" dirty="0"/>
                    </a:p>
                  </a:txBody>
                  <a:tcPr/>
                </a:tc>
                <a:tc>
                  <a:txBody>
                    <a:bodyPr/>
                    <a:lstStyle/>
                    <a:p>
                      <a:pPr rtl="1"/>
                      <a:endParaRPr lang="en-US" dirty="0"/>
                    </a:p>
                    <a:p>
                      <a:pPr algn="ctr" rtl="1"/>
                      <a:r>
                        <a:rPr lang="en-US" sz="2400" dirty="0"/>
                        <a:t>Upload</a:t>
                      </a:r>
                      <a:r>
                        <a:rPr lang="en-US" sz="2400" baseline="0" dirty="0"/>
                        <a:t> images /</a:t>
                      </a:r>
                    </a:p>
                    <a:p>
                      <a:pPr algn="ctr" rtl="1"/>
                      <a:r>
                        <a:rPr lang="en-US" sz="2400" baseline="0" dirty="0"/>
                        <a:t>videos</a:t>
                      </a:r>
                    </a:p>
                  </a:txBody>
                  <a:tcPr/>
                </a:tc>
                <a:extLst>
                  <a:ext uri="{0D108BD9-81ED-4DB2-BD59-A6C34878D82A}">
                    <a16:rowId xmlns:a16="http://schemas.microsoft.com/office/drawing/2014/main" val="10002"/>
                  </a:ext>
                </a:extLst>
              </a:tr>
              <a:tr h="1071716">
                <a:tc>
                  <a:txBody>
                    <a:bodyPr/>
                    <a:lstStyle/>
                    <a:p>
                      <a:pPr rtl="1"/>
                      <a:endParaRPr lang="en-US" dirty="0"/>
                    </a:p>
                    <a:p>
                      <a:pPr algn="ctr" rtl="1"/>
                      <a:r>
                        <a:rPr lang="en-US" sz="2800" dirty="0"/>
                        <a:t>Yes</a:t>
                      </a:r>
                      <a:endParaRPr lang="ar-EG" sz="2800" dirty="0"/>
                    </a:p>
                  </a:txBody>
                  <a:tcPr/>
                </a:tc>
                <a:tc>
                  <a:txBody>
                    <a:bodyPr/>
                    <a:lstStyle/>
                    <a:p>
                      <a:pPr rtl="1"/>
                      <a:endParaRPr lang="en-US" dirty="0"/>
                    </a:p>
                    <a:p>
                      <a:pPr algn="ctr" rtl="1"/>
                      <a:r>
                        <a:rPr lang="en-US" sz="2800" b="0" dirty="0"/>
                        <a:t>Yes</a:t>
                      </a:r>
                      <a:endParaRPr lang="ar-EG" sz="2800" b="0" dirty="0"/>
                    </a:p>
                  </a:txBody>
                  <a:tcPr/>
                </a:tc>
                <a:tc>
                  <a:txBody>
                    <a:bodyPr/>
                    <a:lstStyle/>
                    <a:p>
                      <a:pPr rtl="1"/>
                      <a:endParaRPr lang="en-US" dirty="0"/>
                    </a:p>
                    <a:p>
                      <a:pPr algn="ctr" rtl="1"/>
                      <a:r>
                        <a:rPr lang="en-US" sz="2800" dirty="0"/>
                        <a:t>Yes</a:t>
                      </a:r>
                      <a:endParaRPr lang="ar-EG" sz="2800" dirty="0"/>
                    </a:p>
                  </a:txBody>
                  <a:tcPr/>
                </a:tc>
                <a:tc>
                  <a:txBody>
                    <a:bodyPr/>
                    <a:lstStyle/>
                    <a:p>
                      <a:pPr rtl="1"/>
                      <a:endParaRPr lang="en-US" dirty="0"/>
                    </a:p>
                    <a:p>
                      <a:pPr algn="ctr" rtl="1"/>
                      <a:r>
                        <a:rPr lang="en-US" sz="2800" dirty="0"/>
                        <a:t>Yes</a:t>
                      </a:r>
                      <a:endParaRPr lang="ar-EG" sz="2800" dirty="0"/>
                    </a:p>
                  </a:txBody>
                  <a:tcPr/>
                </a:tc>
                <a:tc>
                  <a:txBody>
                    <a:bodyPr/>
                    <a:lstStyle/>
                    <a:p>
                      <a:pPr rtl="1"/>
                      <a:endParaRPr lang="en-US" dirty="0"/>
                    </a:p>
                    <a:p>
                      <a:pPr algn="ctr" rtl="1"/>
                      <a:r>
                        <a:rPr lang="en-US" sz="2800" dirty="0"/>
                        <a:t>Location</a:t>
                      </a:r>
                      <a:endParaRPr lang="ar-EG" sz="2800" dirty="0"/>
                    </a:p>
                  </a:txBody>
                  <a:tcPr/>
                </a:tc>
                <a:extLst>
                  <a:ext uri="{0D108BD9-81ED-4DB2-BD59-A6C34878D82A}">
                    <a16:rowId xmlns:a16="http://schemas.microsoft.com/office/drawing/2014/main" val="10003"/>
                  </a:ext>
                </a:extLst>
              </a:tr>
              <a:tr h="1071716">
                <a:tc>
                  <a:txBody>
                    <a:bodyPr/>
                    <a:lstStyle/>
                    <a:p>
                      <a:pPr rtl="1"/>
                      <a:endParaRPr lang="en-US" dirty="0"/>
                    </a:p>
                    <a:p>
                      <a:pPr algn="ctr" rtl="1"/>
                      <a:r>
                        <a:rPr lang="en-US" sz="2800" dirty="0"/>
                        <a:t>No</a:t>
                      </a:r>
                      <a:endParaRPr lang="ar-EG" sz="2800" dirty="0"/>
                    </a:p>
                  </a:txBody>
                  <a:tcPr/>
                </a:tc>
                <a:tc>
                  <a:txBody>
                    <a:bodyPr/>
                    <a:lstStyle/>
                    <a:p>
                      <a:pPr rtl="1"/>
                      <a:endParaRPr lang="en-US" dirty="0"/>
                    </a:p>
                    <a:p>
                      <a:pPr algn="ctr" rtl="1"/>
                      <a:r>
                        <a:rPr lang="en-US" sz="2800" dirty="0"/>
                        <a:t>Yes</a:t>
                      </a:r>
                    </a:p>
                  </a:txBody>
                  <a:tcPr/>
                </a:tc>
                <a:tc>
                  <a:txBody>
                    <a:bodyPr/>
                    <a:lstStyle/>
                    <a:p>
                      <a:pPr rtl="1"/>
                      <a:endParaRPr lang="en-US" dirty="0"/>
                    </a:p>
                    <a:p>
                      <a:pPr algn="ctr" rtl="1"/>
                      <a:r>
                        <a:rPr lang="en-US" sz="2800" dirty="0"/>
                        <a:t>Yes</a:t>
                      </a:r>
                      <a:endParaRPr lang="ar-EG" sz="2800" dirty="0"/>
                    </a:p>
                  </a:txBody>
                  <a:tcPr/>
                </a:tc>
                <a:tc>
                  <a:txBody>
                    <a:bodyPr/>
                    <a:lstStyle/>
                    <a:p>
                      <a:pPr rtl="1"/>
                      <a:endParaRPr lang="en-US" dirty="0"/>
                    </a:p>
                    <a:p>
                      <a:pPr algn="ctr" rtl="1"/>
                      <a:r>
                        <a:rPr lang="en-US" sz="2800" dirty="0"/>
                        <a:t>Yes</a:t>
                      </a:r>
                      <a:endParaRPr lang="ar-EG" sz="2800" dirty="0"/>
                    </a:p>
                  </a:txBody>
                  <a:tcPr/>
                </a:tc>
                <a:tc>
                  <a:txBody>
                    <a:bodyPr/>
                    <a:lstStyle/>
                    <a:p>
                      <a:pPr rtl="1"/>
                      <a:endParaRPr lang="en-US" dirty="0"/>
                    </a:p>
                    <a:p>
                      <a:pPr algn="ctr" rtl="1"/>
                      <a:r>
                        <a:rPr lang="en-US" sz="2800" dirty="0"/>
                        <a:t>Review</a:t>
                      </a:r>
                    </a:p>
                    <a:p>
                      <a:pPr algn="ctr" rtl="1"/>
                      <a:r>
                        <a:rPr lang="en-US" sz="2800" dirty="0"/>
                        <a:t>Report</a:t>
                      </a:r>
                      <a:endParaRPr lang="ar-EG" sz="2800" dirty="0"/>
                    </a:p>
                  </a:txBody>
                  <a:tcPr/>
                </a:tc>
                <a:extLst>
                  <a:ext uri="{0D108BD9-81ED-4DB2-BD59-A6C34878D82A}">
                    <a16:rowId xmlns:a16="http://schemas.microsoft.com/office/drawing/2014/main" val="10004"/>
                  </a:ext>
                </a:extLst>
              </a:tr>
              <a:tr h="1071716">
                <a:tc>
                  <a:txBody>
                    <a:bodyPr/>
                    <a:lstStyle/>
                    <a:p>
                      <a:pPr rtl="1"/>
                      <a:endParaRPr lang="en-US" dirty="0"/>
                    </a:p>
                    <a:p>
                      <a:pPr algn="ctr" rtl="1"/>
                      <a:r>
                        <a:rPr lang="en-US" sz="2800" dirty="0"/>
                        <a:t>No</a:t>
                      </a:r>
                      <a:endParaRPr lang="ar-EG" sz="2800" dirty="0"/>
                    </a:p>
                  </a:txBody>
                  <a:tcPr/>
                </a:tc>
                <a:tc>
                  <a:txBody>
                    <a:bodyPr/>
                    <a:lstStyle/>
                    <a:p>
                      <a:pPr rtl="1"/>
                      <a:endParaRPr lang="en-US" dirty="0"/>
                    </a:p>
                    <a:p>
                      <a:pPr algn="ctr" rtl="1"/>
                      <a:r>
                        <a:rPr lang="en-US" sz="2800" dirty="0"/>
                        <a:t>Yes</a:t>
                      </a:r>
                      <a:endParaRPr lang="ar-EG" sz="2800" dirty="0"/>
                    </a:p>
                  </a:txBody>
                  <a:tcPr/>
                </a:tc>
                <a:tc>
                  <a:txBody>
                    <a:bodyPr/>
                    <a:lstStyle/>
                    <a:p>
                      <a:pPr rtl="1"/>
                      <a:endParaRPr lang="en-US" dirty="0"/>
                    </a:p>
                    <a:p>
                      <a:pPr algn="ctr" rtl="1"/>
                      <a:r>
                        <a:rPr lang="en-US" sz="2800" dirty="0"/>
                        <a:t>No</a:t>
                      </a:r>
                      <a:endParaRPr lang="ar-EG" sz="2800" dirty="0"/>
                    </a:p>
                  </a:txBody>
                  <a:tcPr/>
                </a:tc>
                <a:tc>
                  <a:txBody>
                    <a:bodyPr/>
                    <a:lstStyle/>
                    <a:p>
                      <a:pPr rtl="1"/>
                      <a:endParaRPr lang="en-US" dirty="0"/>
                    </a:p>
                    <a:p>
                      <a:pPr algn="ctr" rtl="1"/>
                      <a:r>
                        <a:rPr lang="en-US" sz="2800" dirty="0"/>
                        <a:t>No</a:t>
                      </a:r>
                      <a:endParaRPr lang="ar-EG" sz="2800" dirty="0"/>
                    </a:p>
                  </a:txBody>
                  <a:tcPr/>
                </a:tc>
                <a:tc>
                  <a:txBody>
                    <a:bodyPr/>
                    <a:lstStyle/>
                    <a:p>
                      <a:pPr rtl="1"/>
                      <a:endParaRPr lang="en-US" dirty="0"/>
                    </a:p>
                    <a:p>
                      <a:pPr algn="ctr" rtl="1"/>
                      <a:r>
                        <a:rPr lang="en-US" sz="2800" dirty="0"/>
                        <a:t>Chat</a:t>
                      </a:r>
                      <a:endParaRPr lang="ar-EG" sz="28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5799714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26" name="Picture 2" descr="https://lh7-us.googleusercontent.com/IR6WNmLiOeWoDS5vjkFT0szO4kKslyg9-6qHTfYPtyzUEhw3xTEw0wDfrnZ1KY3_p2e84Gi4G1Sk1Jn08RB0GRbVGt2oBVpuyd1bXedgKufPvCWS9R5SL09CL-a0KhXQdMGP53mj6kLFOyqpfTarbHR8i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7292" y="827359"/>
            <a:ext cx="3944476" cy="71365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1384586" y="2723369"/>
            <a:ext cx="5091394" cy="2235099"/>
          </a:xfrm>
          <a:prstGeom prst="rect">
            <a:avLst/>
          </a:prstGeom>
        </p:spPr>
        <p:txBody>
          <a:bodyPr wrap="none">
            <a:spAutoFit/>
          </a:bodyPr>
          <a:lstStyle/>
          <a:p>
            <a:pPr>
              <a:lnSpc>
                <a:spcPts val="5468"/>
              </a:lnSpc>
            </a:pPr>
            <a:r>
              <a:rPr lang="en-US" sz="9600" b="1" dirty="0">
                <a:solidFill>
                  <a:schemeClr val="accent4"/>
                </a:solidFill>
                <a:latin typeface="+mj-lt"/>
                <a:ea typeface="Roboto Slab" pitchFamily="34" charset="-122"/>
              </a:rPr>
              <a:t>4.</a:t>
            </a:r>
          </a:p>
          <a:p>
            <a:pPr>
              <a:lnSpc>
                <a:spcPts val="5468"/>
              </a:lnSpc>
            </a:pPr>
            <a:r>
              <a:rPr lang="en-US" sz="6000" b="1" dirty="0">
                <a:solidFill>
                  <a:schemeClr val="accent4"/>
                </a:solidFill>
                <a:latin typeface="+mj-lt"/>
                <a:cs typeface="+mj-cs"/>
              </a:rPr>
              <a:t>System Analysis </a:t>
            </a:r>
          </a:p>
          <a:p>
            <a:pPr>
              <a:lnSpc>
                <a:spcPts val="5468"/>
              </a:lnSpc>
            </a:pPr>
            <a:r>
              <a:rPr lang="en-US" sz="6000" b="1" dirty="0">
                <a:solidFill>
                  <a:schemeClr val="accent4"/>
                </a:solidFill>
                <a:latin typeface="+mj-lt"/>
                <a:cs typeface="+mj-cs"/>
              </a:rPr>
              <a:t>&amp; Design</a:t>
            </a:r>
          </a:p>
        </p:txBody>
      </p:sp>
    </p:spTree>
    <p:extLst>
      <p:ext uri="{BB962C8B-B14F-4D97-AF65-F5344CB8AC3E}">
        <p14:creationId xmlns:p14="http://schemas.microsoft.com/office/powerpoint/2010/main" val="371588334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ext 2"/>
          <p:cNvSpPr/>
          <p:nvPr/>
        </p:nvSpPr>
        <p:spPr>
          <a:xfrm>
            <a:off x="323492" y="418148"/>
            <a:ext cx="7868007" cy="833437"/>
          </a:xfrm>
          <a:prstGeom prst="rect">
            <a:avLst/>
          </a:prstGeom>
          <a:noFill/>
          <a:ln/>
        </p:spPr>
        <p:txBody>
          <a:bodyPr wrap="square" rtlCol="0" anchor="t"/>
          <a:lstStyle/>
          <a:p>
            <a:pPr marL="0" indent="0">
              <a:lnSpc>
                <a:spcPts val="5468"/>
              </a:lnSpc>
              <a:buNone/>
            </a:pPr>
            <a:r>
              <a:rPr lang="en-US" sz="6000" b="1" dirty="0">
                <a:solidFill>
                  <a:schemeClr val="accent4"/>
                </a:solidFill>
                <a:latin typeface="Roboto Slab" pitchFamily="34" charset="0"/>
                <a:ea typeface="Roboto Slab" pitchFamily="34" charset="-122"/>
                <a:cs typeface="Roboto Slab" pitchFamily="34" charset="-120"/>
              </a:rPr>
              <a:t>Functional View</a:t>
            </a:r>
            <a:endParaRPr lang="en-US" sz="6000" b="1" dirty="0">
              <a:solidFill>
                <a:schemeClr val="accent4"/>
              </a:solidFill>
            </a:endParaRPr>
          </a:p>
        </p:txBody>
      </p:sp>
      <p:sp>
        <p:nvSpPr>
          <p:cNvPr id="3" name="Shape 9"/>
          <p:cNvSpPr/>
          <p:nvPr/>
        </p:nvSpPr>
        <p:spPr>
          <a:xfrm>
            <a:off x="323493" y="1217729"/>
            <a:ext cx="7696557" cy="6558915"/>
          </a:xfrm>
          <a:prstGeom prst="roundRect">
            <a:avLst>
              <a:gd name="adj" fmla="val 6386"/>
            </a:avLst>
          </a:prstGeom>
          <a:solidFill>
            <a:srgbClr val="E7EDF9"/>
          </a:solidFill>
          <a:ln/>
        </p:spPr>
        <p:txBody>
          <a:bodyPr/>
          <a:lstStyle/>
          <a:p>
            <a:endParaRPr lang="ar-EG"/>
          </a:p>
        </p:txBody>
      </p:sp>
      <p:sp>
        <p:nvSpPr>
          <p:cNvPr id="2" name="Rectangle 1"/>
          <p:cNvSpPr/>
          <p:nvPr/>
        </p:nvSpPr>
        <p:spPr>
          <a:xfrm>
            <a:off x="323493" y="1389124"/>
            <a:ext cx="7315200" cy="2083327"/>
          </a:xfrm>
          <a:prstGeom prst="rect">
            <a:avLst/>
          </a:prstGeom>
        </p:spPr>
        <p:txBody>
          <a:bodyPr>
            <a:spAutoFit/>
          </a:bodyPr>
          <a:lstStyle/>
          <a:p>
            <a:pPr marL="228600" marR="0">
              <a:lnSpc>
                <a:spcPct val="107000"/>
              </a:lnSpc>
              <a:spcBef>
                <a:spcPts val="0"/>
              </a:spcBef>
              <a:spcAft>
                <a:spcPts val="800"/>
              </a:spcAft>
            </a:pPr>
            <a:r>
              <a:rPr lang="en-US" sz="2400" b="1" kern="100" dirty="0">
                <a:ea typeface="Calibri" panose="020F0502020204030204" pitchFamily="34" charset="0"/>
                <a:cs typeface="Arial" panose="020B0604020202020204" pitchFamily="34" charset="0"/>
              </a:rPr>
              <a:t>1-Maintain</a:t>
            </a:r>
            <a:r>
              <a:rPr lang="en-US" sz="2400" b="1" i="1" kern="100" dirty="0">
                <a:ea typeface="Calibri" panose="020F0502020204030204" pitchFamily="34" charset="0"/>
                <a:cs typeface="Arial" panose="020B0604020202020204" pitchFamily="34" charset="0"/>
              </a:rPr>
              <a:t> Basic Data:</a:t>
            </a:r>
            <a:endParaRPr lang="en-US" sz="1400" kern="100" dirty="0">
              <a:ea typeface="Calibri" panose="020F0502020204030204" pitchFamily="34" charset="0"/>
              <a:cs typeface="Arial" panose="020B0604020202020204" pitchFamily="34" charset="0"/>
            </a:endParaRPr>
          </a:p>
          <a:p>
            <a:pPr marL="228600" marR="0">
              <a:lnSpc>
                <a:spcPct val="107000"/>
              </a:lnSpc>
              <a:spcBef>
                <a:spcPts val="0"/>
              </a:spcBef>
              <a:spcAft>
                <a:spcPts val="800"/>
              </a:spcAft>
            </a:pPr>
            <a:r>
              <a:rPr lang="en-US" u="sng" kern="100" dirty="0">
                <a:ea typeface="Calibri" panose="020F0502020204030204" pitchFamily="34" charset="0"/>
                <a:cs typeface="Arial" panose="020B0604020202020204" pitchFamily="34" charset="0"/>
              </a:rPr>
              <a:t>Security Personnel </a:t>
            </a:r>
            <a:endParaRPr lang="en-US" sz="1400" kern="100" dirty="0">
              <a:ea typeface="Calibri" panose="020F0502020204030204" pitchFamily="34" charset="0"/>
              <a:cs typeface="Arial" panose="020B0604020202020204" pitchFamily="34" charset="0"/>
            </a:endParaRPr>
          </a:p>
          <a:p>
            <a:pPr marL="228600" marR="0">
              <a:lnSpc>
                <a:spcPct val="107000"/>
              </a:lnSpc>
              <a:spcBef>
                <a:spcPts val="0"/>
              </a:spcBef>
              <a:spcAft>
                <a:spcPts val="800"/>
              </a:spcAft>
            </a:pPr>
            <a:r>
              <a:rPr lang="en-US" kern="100" dirty="0">
                <a:ea typeface="Calibri" panose="020F0502020204030204" pitchFamily="34" charset="0"/>
                <a:cs typeface="Arial" panose="020B0604020202020204" pitchFamily="34" charset="0"/>
              </a:rPr>
              <a:t>(First Name , Last Name ,Email ,Password ,Phone Number , ID Number).</a:t>
            </a:r>
            <a:endParaRPr lang="en-US" sz="1400" kern="100" dirty="0">
              <a:ea typeface="Calibri" panose="020F0502020204030204" pitchFamily="34" charset="0"/>
              <a:cs typeface="Arial" panose="020B0604020202020204" pitchFamily="34" charset="0"/>
            </a:endParaRPr>
          </a:p>
          <a:p>
            <a:pPr marL="228600" marR="0">
              <a:lnSpc>
                <a:spcPct val="107000"/>
              </a:lnSpc>
              <a:spcBef>
                <a:spcPts val="0"/>
              </a:spcBef>
              <a:spcAft>
                <a:spcPts val="800"/>
              </a:spcAft>
            </a:pPr>
            <a:r>
              <a:rPr lang="en-US" u="sng" kern="100" dirty="0">
                <a:ea typeface="Calibri" panose="020F0502020204030204" pitchFamily="34" charset="0"/>
                <a:cs typeface="Arial" panose="020B0604020202020204" pitchFamily="34" charset="0"/>
              </a:rPr>
              <a:t>Manager</a:t>
            </a:r>
            <a:endParaRPr lang="en-US" sz="1400" kern="100" dirty="0">
              <a:ea typeface="Calibri" panose="020F0502020204030204" pitchFamily="34" charset="0"/>
              <a:cs typeface="Arial" panose="020B0604020202020204" pitchFamily="34" charset="0"/>
            </a:endParaRPr>
          </a:p>
          <a:p>
            <a:pPr marL="228600" marR="0">
              <a:lnSpc>
                <a:spcPct val="107000"/>
              </a:lnSpc>
              <a:spcBef>
                <a:spcPts val="0"/>
              </a:spcBef>
              <a:spcAft>
                <a:spcPts val="800"/>
              </a:spcAft>
            </a:pPr>
            <a:r>
              <a:rPr lang="en-US" kern="100" dirty="0">
                <a:ea typeface="Calibri" panose="020F0502020204030204" pitchFamily="34" charset="0"/>
                <a:cs typeface="Arial" panose="020B0604020202020204" pitchFamily="34" charset="0"/>
              </a:rPr>
              <a:t>(First Name ,Last Name , Email , Password ,ID Number)</a:t>
            </a:r>
            <a:endParaRPr lang="en-US" sz="1400" kern="100" dirty="0">
              <a:effectLst/>
              <a:ea typeface="Calibri" panose="020F0502020204030204" pitchFamily="34" charset="0"/>
              <a:cs typeface="Arial" panose="020B0604020202020204" pitchFamily="34" charset="0"/>
            </a:endParaRPr>
          </a:p>
        </p:txBody>
      </p:sp>
      <p:sp>
        <p:nvSpPr>
          <p:cNvPr id="5" name="Rectangle 4"/>
          <p:cNvSpPr/>
          <p:nvPr/>
        </p:nvSpPr>
        <p:spPr>
          <a:xfrm>
            <a:off x="152044" y="3527082"/>
            <a:ext cx="7315200" cy="3780458"/>
          </a:xfrm>
          <a:prstGeom prst="rect">
            <a:avLst/>
          </a:prstGeom>
        </p:spPr>
        <p:txBody>
          <a:bodyPr>
            <a:spAutoFit/>
          </a:bodyPr>
          <a:lstStyle/>
          <a:p>
            <a:pPr marL="457200">
              <a:lnSpc>
                <a:spcPct val="107000"/>
              </a:lnSpc>
            </a:pPr>
            <a:r>
              <a:rPr lang="en-US" sz="2400" b="1" kern="100" dirty="0">
                <a:ea typeface="Calibri" panose="020F0502020204030204" pitchFamily="34" charset="0"/>
                <a:cs typeface="Arial" panose="020B0604020202020204" pitchFamily="34" charset="0"/>
              </a:rPr>
              <a:t>2-Issue Query Subsystem:</a:t>
            </a:r>
            <a:endParaRPr lang="en-US" sz="2400" b="1" kern="0" dirty="0">
              <a:solidFill>
                <a:srgbClr val="000000"/>
              </a:solidFill>
              <a:ea typeface="Times New Roman" panose="02020603050405020304" pitchFamily="18" charset="0"/>
              <a:cs typeface="Arial" panose="020B0604020202020204" pitchFamily="34" charset="0"/>
            </a:endParaRPr>
          </a:p>
          <a:p>
            <a:pPr marL="457200" marR="0">
              <a:lnSpc>
                <a:spcPct val="107000"/>
              </a:lnSpc>
              <a:spcBef>
                <a:spcPts val="0"/>
              </a:spcBef>
              <a:spcAft>
                <a:spcPts val="0"/>
              </a:spcAft>
            </a:pPr>
            <a:r>
              <a:rPr lang="en-US" i="1" kern="0" dirty="0">
                <a:solidFill>
                  <a:srgbClr val="000000"/>
                </a:solidFill>
                <a:ea typeface="Times New Roman" panose="02020603050405020304" pitchFamily="18" charset="0"/>
                <a:cs typeface="Arial" panose="020B0604020202020204" pitchFamily="34" charset="0"/>
              </a:rPr>
              <a:t>1. Student:</a:t>
            </a:r>
            <a:endParaRPr lang="en-US" sz="1400" kern="100" dirty="0">
              <a:ea typeface="Calibri" panose="020F0502020204030204" pitchFamily="34" charset="0"/>
              <a:cs typeface="Arial" panose="020B0604020202020204" pitchFamily="34" charset="0"/>
            </a:endParaRPr>
          </a:p>
          <a:p>
            <a:pPr marL="457200" marR="0">
              <a:lnSpc>
                <a:spcPct val="107000"/>
              </a:lnSpc>
              <a:spcBef>
                <a:spcPts val="0"/>
              </a:spcBef>
              <a:spcAft>
                <a:spcPts val="0"/>
              </a:spcAft>
            </a:pPr>
            <a:r>
              <a:rPr lang="en-US" kern="0" dirty="0">
                <a:solidFill>
                  <a:srgbClr val="000000"/>
                </a:solidFill>
                <a:ea typeface="Times New Roman" panose="02020603050405020304" pitchFamily="18" charset="0"/>
                <a:cs typeface="Arial" panose="020B0604020202020204" pitchFamily="34" charset="0"/>
              </a:rPr>
              <a:t>- Access to emergency contact information and reporting incidents</a:t>
            </a:r>
            <a:endParaRPr lang="en-US" sz="1400" kern="100" dirty="0">
              <a:ea typeface="Calibri" panose="020F0502020204030204" pitchFamily="34" charset="0"/>
              <a:cs typeface="Arial" panose="020B0604020202020204" pitchFamily="34" charset="0"/>
            </a:endParaRPr>
          </a:p>
          <a:p>
            <a:pPr marL="457200" marR="0">
              <a:lnSpc>
                <a:spcPct val="107000"/>
              </a:lnSpc>
              <a:spcBef>
                <a:spcPts val="0"/>
              </a:spcBef>
              <a:spcAft>
                <a:spcPts val="0"/>
              </a:spcAft>
            </a:pPr>
            <a:r>
              <a:rPr lang="en-US" kern="0" dirty="0">
                <a:solidFill>
                  <a:srgbClr val="000000"/>
                </a:solidFill>
                <a:ea typeface="Times New Roman" panose="02020603050405020304" pitchFamily="18" charset="0"/>
                <a:cs typeface="Arial" panose="020B0604020202020204" pitchFamily="34" charset="0"/>
              </a:rPr>
              <a:t>- Ability to request security assistance</a:t>
            </a:r>
            <a:endParaRPr lang="en-US" sz="1400" kern="100" dirty="0">
              <a:ea typeface="Calibri" panose="020F0502020204030204" pitchFamily="34" charset="0"/>
              <a:cs typeface="Arial" panose="020B0604020202020204" pitchFamily="34" charset="0"/>
            </a:endParaRPr>
          </a:p>
          <a:p>
            <a:pPr marL="457200" marR="0">
              <a:lnSpc>
                <a:spcPct val="107000"/>
              </a:lnSpc>
              <a:spcBef>
                <a:spcPts val="0"/>
              </a:spcBef>
              <a:spcAft>
                <a:spcPts val="0"/>
              </a:spcAft>
            </a:pPr>
            <a:r>
              <a:rPr lang="en-US" kern="0" dirty="0">
                <a:solidFill>
                  <a:srgbClr val="000000"/>
                </a:solidFill>
                <a:ea typeface="Times New Roman" panose="02020603050405020304" pitchFamily="18" charset="0"/>
                <a:cs typeface="Arial" panose="020B0604020202020204" pitchFamily="34" charset="0"/>
              </a:rPr>
              <a:t>- Access to safety tips and guidelines</a:t>
            </a:r>
            <a:endParaRPr lang="en-US" sz="1400" kern="100" dirty="0">
              <a:ea typeface="Calibri" panose="020F0502020204030204" pitchFamily="34" charset="0"/>
              <a:cs typeface="Arial" panose="020B0604020202020204" pitchFamily="34" charset="0"/>
            </a:endParaRPr>
          </a:p>
          <a:p>
            <a:pPr marL="457200" marR="0">
              <a:lnSpc>
                <a:spcPct val="107000"/>
              </a:lnSpc>
              <a:spcBef>
                <a:spcPts val="0"/>
              </a:spcBef>
              <a:spcAft>
                <a:spcPts val="0"/>
              </a:spcAft>
            </a:pPr>
            <a:r>
              <a:rPr lang="ar-SA" i="1" kern="0" dirty="0">
                <a:solidFill>
                  <a:srgbClr val="000000"/>
                </a:solidFill>
                <a:ea typeface="Times New Roman" panose="02020603050405020304" pitchFamily="18" charset="0"/>
                <a:cs typeface="Segoe UI" panose="020B0502040204020203" pitchFamily="34" charset="0"/>
              </a:rPr>
              <a:t>2</a:t>
            </a:r>
            <a:r>
              <a:rPr lang="en-US" i="1" kern="0" dirty="0">
                <a:solidFill>
                  <a:srgbClr val="000000"/>
                </a:solidFill>
                <a:ea typeface="Times New Roman" panose="02020603050405020304" pitchFamily="18" charset="0"/>
                <a:cs typeface="Arial" panose="020B0604020202020204" pitchFamily="34" charset="0"/>
              </a:rPr>
              <a:t>. Security Personnel:</a:t>
            </a:r>
            <a:endParaRPr lang="en-US" sz="1400" kern="100" dirty="0">
              <a:ea typeface="Calibri" panose="020F0502020204030204" pitchFamily="34" charset="0"/>
              <a:cs typeface="Arial" panose="020B0604020202020204" pitchFamily="34" charset="0"/>
            </a:endParaRPr>
          </a:p>
          <a:p>
            <a:pPr marL="457200" marR="0">
              <a:lnSpc>
                <a:spcPct val="107000"/>
              </a:lnSpc>
              <a:spcBef>
                <a:spcPts val="0"/>
              </a:spcBef>
              <a:spcAft>
                <a:spcPts val="0"/>
              </a:spcAft>
            </a:pPr>
            <a:r>
              <a:rPr lang="en-US" kern="0" dirty="0">
                <a:solidFill>
                  <a:srgbClr val="000000"/>
                </a:solidFill>
                <a:ea typeface="Times New Roman" panose="02020603050405020304" pitchFamily="18" charset="0"/>
                <a:cs typeface="Arial" panose="020B0604020202020204" pitchFamily="34" charset="0"/>
              </a:rPr>
              <a:t>- Monitoring and tracking of users on the campus map</a:t>
            </a:r>
            <a:endParaRPr lang="en-US" sz="1400" kern="100" dirty="0">
              <a:ea typeface="Calibri" panose="020F0502020204030204" pitchFamily="34" charset="0"/>
              <a:cs typeface="Arial" panose="020B0604020202020204" pitchFamily="34" charset="0"/>
            </a:endParaRPr>
          </a:p>
          <a:p>
            <a:pPr marL="457200" marR="0">
              <a:lnSpc>
                <a:spcPct val="107000"/>
              </a:lnSpc>
              <a:spcBef>
                <a:spcPts val="0"/>
              </a:spcBef>
              <a:spcAft>
                <a:spcPts val="0"/>
              </a:spcAft>
            </a:pPr>
            <a:r>
              <a:rPr lang="en-US" kern="0" dirty="0">
                <a:solidFill>
                  <a:srgbClr val="000000"/>
                </a:solidFill>
                <a:ea typeface="Times New Roman" panose="02020603050405020304" pitchFamily="18" charset="0"/>
                <a:cs typeface="Arial" panose="020B0604020202020204" pitchFamily="34" charset="0"/>
              </a:rPr>
              <a:t>- Ability to receive and respond to emergency reports or requests for assistance.</a:t>
            </a:r>
            <a:endParaRPr lang="en-US" sz="1400" kern="100" dirty="0">
              <a:ea typeface="Calibri" panose="020F0502020204030204" pitchFamily="34" charset="0"/>
              <a:cs typeface="Arial" panose="020B0604020202020204" pitchFamily="34" charset="0"/>
            </a:endParaRPr>
          </a:p>
          <a:p>
            <a:pPr marL="457200" marR="0">
              <a:lnSpc>
                <a:spcPct val="107000"/>
              </a:lnSpc>
              <a:spcBef>
                <a:spcPts val="0"/>
              </a:spcBef>
              <a:spcAft>
                <a:spcPts val="0"/>
              </a:spcAft>
            </a:pPr>
            <a:r>
              <a:rPr lang="en-US" kern="0" dirty="0">
                <a:solidFill>
                  <a:srgbClr val="000000"/>
                </a:solidFill>
                <a:ea typeface="Times New Roman" panose="02020603050405020304" pitchFamily="18" charset="0"/>
                <a:cs typeface="Arial" panose="020B0604020202020204" pitchFamily="34" charset="0"/>
              </a:rPr>
              <a:t>- Show the best road based on </a:t>
            </a:r>
            <a:r>
              <a:rPr lang="en-US" kern="0" dirty="0" err="1">
                <a:solidFill>
                  <a:srgbClr val="000000"/>
                </a:solidFill>
                <a:ea typeface="Times New Roman" panose="02020603050405020304" pitchFamily="18" charset="0"/>
                <a:cs typeface="Arial" panose="020B0604020202020204" pitchFamily="34" charset="0"/>
              </a:rPr>
              <a:t>google</a:t>
            </a:r>
            <a:r>
              <a:rPr lang="en-US" kern="0" dirty="0">
                <a:solidFill>
                  <a:srgbClr val="000000"/>
                </a:solidFill>
                <a:ea typeface="Times New Roman" panose="02020603050405020304" pitchFamily="18" charset="0"/>
                <a:cs typeface="Arial" panose="020B0604020202020204" pitchFamily="34" charset="0"/>
              </a:rPr>
              <a:t> maps API.</a:t>
            </a:r>
            <a:endParaRPr lang="en-US" sz="1400" kern="100" dirty="0">
              <a:ea typeface="Calibri" panose="020F0502020204030204" pitchFamily="34" charset="0"/>
              <a:cs typeface="Arial" panose="020B0604020202020204" pitchFamily="34" charset="0"/>
            </a:endParaRPr>
          </a:p>
          <a:p>
            <a:pPr marL="457200" marR="0">
              <a:lnSpc>
                <a:spcPct val="107000"/>
              </a:lnSpc>
              <a:spcBef>
                <a:spcPts val="0"/>
              </a:spcBef>
              <a:spcAft>
                <a:spcPts val="0"/>
              </a:spcAft>
            </a:pPr>
            <a:r>
              <a:rPr lang="ar-SA" sz="2000" i="1" kern="0" dirty="0">
                <a:solidFill>
                  <a:srgbClr val="000000"/>
                </a:solidFill>
                <a:ea typeface="Times New Roman" panose="02020603050405020304" pitchFamily="18" charset="0"/>
                <a:cs typeface="Segoe UI" panose="020B0502040204020203" pitchFamily="34" charset="0"/>
              </a:rPr>
              <a:t>3</a:t>
            </a:r>
            <a:r>
              <a:rPr lang="en-US" sz="2000" i="1" kern="0" dirty="0">
                <a:solidFill>
                  <a:srgbClr val="000000"/>
                </a:solidFill>
                <a:ea typeface="Times New Roman" panose="02020603050405020304" pitchFamily="18" charset="0"/>
                <a:cs typeface="Arial" panose="020B0604020202020204" pitchFamily="34" charset="0"/>
              </a:rPr>
              <a:t>. Manager:</a:t>
            </a:r>
            <a:endParaRPr lang="en-US" sz="1400" kern="100" dirty="0">
              <a:ea typeface="Calibri" panose="020F0502020204030204" pitchFamily="34" charset="0"/>
              <a:cs typeface="Arial" panose="020B0604020202020204" pitchFamily="34" charset="0"/>
            </a:endParaRPr>
          </a:p>
          <a:p>
            <a:pPr marL="457200" marR="0">
              <a:lnSpc>
                <a:spcPct val="107000"/>
              </a:lnSpc>
              <a:spcBef>
                <a:spcPts val="0"/>
              </a:spcBef>
              <a:spcAft>
                <a:spcPts val="0"/>
              </a:spcAft>
            </a:pPr>
            <a:r>
              <a:rPr lang="en-US" kern="0" dirty="0">
                <a:solidFill>
                  <a:srgbClr val="000000"/>
                </a:solidFill>
                <a:ea typeface="Times New Roman" panose="02020603050405020304" pitchFamily="18" charset="0"/>
                <a:cs typeface="Arial" panose="020B0604020202020204" pitchFamily="34" charset="0"/>
              </a:rPr>
              <a:t>- Ability to view weekly updates for reports on the campus</a:t>
            </a:r>
            <a:endParaRPr lang="en-US" sz="1400" kern="100" dirty="0">
              <a:effectLst/>
              <a:ea typeface="Calibri" panose="020F0502020204030204" pitchFamily="34" charset="0"/>
              <a:cs typeface="Arial" panose="020B0604020202020204" pitchFamily="34" charset="0"/>
            </a:endParaRPr>
          </a:p>
        </p:txBody>
      </p:sp>
      <p:sp>
        <p:nvSpPr>
          <p:cNvPr id="7" name="Shape 9"/>
          <p:cNvSpPr/>
          <p:nvPr/>
        </p:nvSpPr>
        <p:spPr>
          <a:xfrm>
            <a:off x="8587506" y="1217728"/>
            <a:ext cx="5433294" cy="6558915"/>
          </a:xfrm>
          <a:prstGeom prst="roundRect">
            <a:avLst>
              <a:gd name="adj" fmla="val 6386"/>
            </a:avLst>
          </a:prstGeom>
          <a:solidFill>
            <a:srgbClr val="E7EDF9"/>
          </a:solidFill>
          <a:ln/>
        </p:spPr>
        <p:txBody>
          <a:bodyPr/>
          <a:lstStyle/>
          <a:p>
            <a:endParaRPr lang="ar-EG"/>
          </a:p>
        </p:txBody>
      </p:sp>
      <p:sp>
        <p:nvSpPr>
          <p:cNvPr id="8" name="Rectangle 7"/>
          <p:cNvSpPr/>
          <p:nvPr/>
        </p:nvSpPr>
        <p:spPr>
          <a:xfrm>
            <a:off x="8799871" y="1551409"/>
            <a:ext cx="4604630" cy="1969322"/>
          </a:xfrm>
          <a:prstGeom prst="rect">
            <a:avLst/>
          </a:prstGeom>
        </p:spPr>
        <p:txBody>
          <a:bodyPr wrap="square">
            <a:spAutoFit/>
          </a:bodyPr>
          <a:lstStyle/>
          <a:p>
            <a:pPr lvl="0">
              <a:lnSpc>
                <a:spcPct val="107000"/>
              </a:lnSpc>
              <a:tabLst>
                <a:tab pos="457200" algn="l"/>
              </a:tabLst>
            </a:pPr>
            <a:r>
              <a:rPr lang="en-US" sz="2400" b="1" i="1" kern="0" dirty="0">
                <a:solidFill>
                  <a:srgbClr val="000000"/>
                </a:solidFill>
                <a:latin typeface="Segoe UI" panose="020B0502040204020203" pitchFamily="34" charset="0"/>
                <a:ea typeface="Times New Roman" panose="02020603050405020304" pitchFamily="18" charset="0"/>
                <a:cs typeface="Arial" panose="020B0604020202020204" pitchFamily="34" charset="0"/>
              </a:rPr>
              <a:t>3-Perform Transactions:</a:t>
            </a:r>
            <a:endParaRPr lang="en-US" sz="1400" kern="100" dirty="0">
              <a:latin typeface="Calibri" panose="020F0502020204030204" pitchFamily="34" charset="0"/>
              <a:ea typeface="Calibri" panose="020F0502020204030204" pitchFamily="34" charset="0"/>
              <a:cs typeface="Arial" panose="020B0604020202020204" pitchFamily="34" charset="0"/>
            </a:endParaRPr>
          </a:p>
          <a:p>
            <a:pPr marL="457200" marR="0">
              <a:lnSpc>
                <a:spcPct val="107000"/>
              </a:lnSpc>
              <a:spcBef>
                <a:spcPts val="0"/>
              </a:spcBef>
              <a:spcAft>
                <a:spcPts val="0"/>
              </a:spcAft>
            </a:pPr>
            <a:r>
              <a:rPr lang="en-US" i="1" kern="0" dirty="0">
                <a:solidFill>
                  <a:srgbClr val="000000"/>
                </a:solidFill>
                <a:latin typeface="Segoe UI" panose="020B0502040204020203" pitchFamily="34" charset="0"/>
                <a:ea typeface="Times New Roman" panose="02020603050405020304" pitchFamily="18" charset="0"/>
                <a:cs typeface="Arial" panose="020B0604020202020204" pitchFamily="34" charset="0"/>
              </a:rPr>
              <a:t>Student:</a:t>
            </a:r>
            <a:endParaRPr lang="en-US" sz="1400" kern="100" dirty="0">
              <a:latin typeface="Calibri" panose="020F0502020204030204" pitchFamily="34" charset="0"/>
              <a:ea typeface="Calibri" panose="020F0502020204030204" pitchFamily="34" charset="0"/>
              <a:cs typeface="Arial" panose="020B0604020202020204" pitchFamily="34" charset="0"/>
            </a:endParaRPr>
          </a:p>
          <a:p>
            <a:pPr marL="457200" marR="0">
              <a:lnSpc>
                <a:spcPct val="107000"/>
              </a:lnSpc>
              <a:spcBef>
                <a:spcPts val="0"/>
              </a:spcBef>
              <a:spcAft>
                <a:spcPts val="0"/>
              </a:spcAft>
            </a:pPr>
            <a:r>
              <a:rPr lang="en-US" kern="0" dirty="0">
                <a:solidFill>
                  <a:srgbClr val="000000"/>
                </a:solidFill>
                <a:latin typeface="Segoe UI" panose="020B0502040204020203" pitchFamily="34" charset="0"/>
                <a:ea typeface="Times New Roman" panose="02020603050405020304" pitchFamily="18" charset="0"/>
                <a:cs typeface="Arial" panose="020B0604020202020204" pitchFamily="34" charset="0"/>
              </a:rPr>
              <a:t>- Send Request to Security personnel</a:t>
            </a:r>
            <a:endParaRPr lang="en-US" sz="1400" kern="100" dirty="0">
              <a:latin typeface="Calibri" panose="020F0502020204030204" pitchFamily="34" charset="0"/>
              <a:ea typeface="Calibri" panose="020F0502020204030204" pitchFamily="34" charset="0"/>
              <a:cs typeface="Arial" panose="020B0604020202020204" pitchFamily="34" charset="0"/>
            </a:endParaRPr>
          </a:p>
          <a:p>
            <a:pPr marL="457200" marR="0">
              <a:lnSpc>
                <a:spcPct val="107000"/>
              </a:lnSpc>
              <a:spcBef>
                <a:spcPts val="0"/>
              </a:spcBef>
              <a:spcAft>
                <a:spcPts val="0"/>
              </a:spcAft>
            </a:pPr>
            <a:r>
              <a:rPr lang="en-US" kern="0" dirty="0">
                <a:solidFill>
                  <a:srgbClr val="000000"/>
                </a:solidFill>
                <a:latin typeface="Segoe UI" panose="020B0502040204020203" pitchFamily="34" charset="0"/>
                <a:ea typeface="Times New Roman" panose="02020603050405020304" pitchFamily="18" charset="0"/>
                <a:cs typeface="Arial" panose="020B0604020202020204" pitchFamily="34" charset="0"/>
              </a:rPr>
              <a:t>- Call security directly</a:t>
            </a:r>
            <a:endParaRPr lang="en-US" sz="1400" kern="100" dirty="0">
              <a:latin typeface="Calibri" panose="020F0502020204030204" pitchFamily="34" charset="0"/>
              <a:ea typeface="Calibri" panose="020F0502020204030204" pitchFamily="34" charset="0"/>
              <a:cs typeface="Arial" panose="020B0604020202020204" pitchFamily="34" charset="0"/>
            </a:endParaRPr>
          </a:p>
          <a:p>
            <a:pPr marL="457200" marR="0">
              <a:lnSpc>
                <a:spcPct val="107000"/>
              </a:lnSpc>
              <a:spcBef>
                <a:spcPts val="0"/>
              </a:spcBef>
              <a:spcAft>
                <a:spcPts val="0"/>
              </a:spcAft>
            </a:pPr>
            <a:r>
              <a:rPr lang="en-US" i="1" kern="0" dirty="0">
                <a:solidFill>
                  <a:srgbClr val="000000"/>
                </a:solidFill>
                <a:latin typeface="Segoe UI" panose="020B0502040204020203" pitchFamily="34" charset="0"/>
                <a:ea typeface="Times New Roman" panose="02020603050405020304" pitchFamily="18" charset="0"/>
                <a:cs typeface="Arial" panose="020B0604020202020204" pitchFamily="34" charset="0"/>
              </a:rPr>
              <a:t>Security Personnel:</a:t>
            </a:r>
            <a:endParaRPr lang="en-US" sz="1400" kern="100" dirty="0">
              <a:latin typeface="Calibri" panose="020F0502020204030204" pitchFamily="34" charset="0"/>
              <a:ea typeface="Calibri" panose="020F0502020204030204" pitchFamily="34" charset="0"/>
              <a:cs typeface="Arial" panose="020B0604020202020204" pitchFamily="34" charset="0"/>
            </a:endParaRPr>
          </a:p>
          <a:p>
            <a:pPr marL="457200" marR="0">
              <a:lnSpc>
                <a:spcPct val="107000"/>
              </a:lnSpc>
              <a:spcBef>
                <a:spcPts val="0"/>
              </a:spcBef>
              <a:spcAft>
                <a:spcPts val="0"/>
              </a:spcAft>
            </a:pPr>
            <a:r>
              <a:rPr lang="en-US" kern="0" dirty="0">
                <a:solidFill>
                  <a:srgbClr val="000000"/>
                </a:solidFill>
                <a:latin typeface="Segoe UI" panose="020B0502040204020203" pitchFamily="34" charset="0"/>
                <a:ea typeface="Times New Roman" panose="02020603050405020304" pitchFamily="18" charset="0"/>
                <a:cs typeface="Arial" panose="020B0604020202020204" pitchFamily="34" charset="0"/>
              </a:rPr>
              <a:t>-Respond to student request </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9" name="Rectangle 8"/>
          <p:cNvSpPr/>
          <p:nvPr/>
        </p:nvSpPr>
        <p:spPr>
          <a:xfrm>
            <a:off x="8799871" y="3818031"/>
            <a:ext cx="3795252" cy="487506"/>
          </a:xfrm>
          <a:prstGeom prst="rect">
            <a:avLst/>
          </a:prstGeom>
        </p:spPr>
        <p:txBody>
          <a:bodyPr wrap="square">
            <a:spAutoFit/>
          </a:bodyPr>
          <a:lstStyle/>
          <a:p>
            <a:pPr lvl="0">
              <a:lnSpc>
                <a:spcPct val="107000"/>
              </a:lnSpc>
              <a:tabLst>
                <a:tab pos="457200" algn="l"/>
              </a:tabLst>
            </a:pPr>
            <a:r>
              <a:rPr lang="en-US" sz="2400" b="1" i="1" kern="0" dirty="0">
                <a:solidFill>
                  <a:srgbClr val="000000"/>
                </a:solidFill>
                <a:ea typeface="Times New Roman" panose="02020603050405020304" pitchFamily="18" charset="0"/>
                <a:cs typeface="Arial" panose="020B0604020202020204" pitchFamily="34" charset="0"/>
              </a:rPr>
              <a:t>4-Generate Reports:</a:t>
            </a:r>
            <a:endParaRPr lang="en-US" sz="1400" kern="100" dirty="0">
              <a:ea typeface="Times New Roman" panose="02020603050405020304" pitchFamily="18" charset="0"/>
              <a:cs typeface="Arial" panose="020B0604020202020204" pitchFamily="34" charset="0"/>
            </a:endParaRPr>
          </a:p>
        </p:txBody>
      </p:sp>
      <p:sp>
        <p:nvSpPr>
          <p:cNvPr id="10" name="TextBox 9"/>
          <p:cNvSpPr txBox="1"/>
          <p:nvPr/>
        </p:nvSpPr>
        <p:spPr>
          <a:xfrm>
            <a:off x="8799871" y="4332954"/>
            <a:ext cx="5041893" cy="923330"/>
          </a:xfrm>
          <a:prstGeom prst="rect">
            <a:avLst/>
          </a:prstGeom>
          <a:noFill/>
        </p:spPr>
        <p:txBody>
          <a:bodyPr wrap="none" rtlCol="1">
            <a:spAutoFit/>
          </a:bodyPr>
          <a:lstStyle/>
          <a:p>
            <a:r>
              <a:rPr lang="en-US" dirty="0"/>
              <a:t>Management Reports:</a:t>
            </a:r>
          </a:p>
          <a:p>
            <a:pPr marL="285750" indent="-285750">
              <a:buFontTx/>
              <a:buChar char="-"/>
            </a:pPr>
            <a:r>
              <a:rPr lang="en-US" dirty="0"/>
              <a:t>Generate reports about requests sent to security</a:t>
            </a:r>
          </a:p>
          <a:p>
            <a:pPr marL="285750" indent="-285750">
              <a:buFontTx/>
              <a:buChar char="-"/>
            </a:pPr>
            <a:r>
              <a:rPr lang="en-US" dirty="0"/>
              <a:t>Generate total weekly reports that happened </a:t>
            </a:r>
            <a:endParaRPr lang="ar-EG" dirty="0"/>
          </a:p>
        </p:txBody>
      </p:sp>
    </p:spTree>
    <p:extLst>
      <p:ext uri="{BB962C8B-B14F-4D97-AF65-F5344CB8AC3E}">
        <p14:creationId xmlns:p14="http://schemas.microsoft.com/office/powerpoint/2010/main" val="3080550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ext 2"/>
          <p:cNvSpPr/>
          <p:nvPr/>
        </p:nvSpPr>
        <p:spPr>
          <a:xfrm>
            <a:off x="323492" y="418148"/>
            <a:ext cx="7868007" cy="833437"/>
          </a:xfrm>
          <a:prstGeom prst="rect">
            <a:avLst/>
          </a:prstGeom>
          <a:noFill/>
          <a:ln/>
        </p:spPr>
        <p:txBody>
          <a:bodyPr wrap="square" rtlCol="0" anchor="t"/>
          <a:lstStyle/>
          <a:p>
            <a:pPr marL="0" indent="0">
              <a:lnSpc>
                <a:spcPts val="5468"/>
              </a:lnSpc>
              <a:buNone/>
            </a:pPr>
            <a:r>
              <a:rPr lang="en-US" sz="6000" b="1" dirty="0">
                <a:solidFill>
                  <a:schemeClr val="accent4"/>
                </a:solidFill>
                <a:latin typeface="Roboto Slab" pitchFamily="34" charset="0"/>
                <a:ea typeface="Roboto Slab" pitchFamily="34" charset="-122"/>
                <a:cs typeface="Roboto Slab" pitchFamily="34" charset="-120"/>
              </a:rPr>
              <a:t>Class Diagram</a:t>
            </a:r>
            <a:endParaRPr lang="en-US" sz="6000" b="1" dirty="0">
              <a:solidFill>
                <a:schemeClr val="accent4"/>
              </a:solidFill>
            </a:endParaRPr>
          </a:p>
        </p:txBody>
      </p:sp>
      <p:pic>
        <p:nvPicPr>
          <p:cNvPr id="12290" name="Picture 2" descr="https://lh7-us.googleusercontent.com/2To5Tl4z9TrhFKQYfJmvQgcMPisXjVxR64q4TSyqowsZs0Dzkf4bNJWiVJZk3awTdFQ9hF7pdt-UI-2-NuuvivTqVpIrN_Lw4fIluZHkcDiRKvxt1qUcRRKIHvMSws1PCw6AvI6-NDtBFhYfz3sE_1f7Gg=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8526" y="1305212"/>
            <a:ext cx="11988800" cy="6701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904807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Text 2"/>
          <p:cNvSpPr/>
          <p:nvPr/>
        </p:nvSpPr>
        <p:spPr>
          <a:xfrm>
            <a:off x="323492" y="418148"/>
            <a:ext cx="7868007" cy="833437"/>
          </a:xfrm>
          <a:prstGeom prst="rect">
            <a:avLst/>
          </a:prstGeom>
          <a:noFill/>
          <a:ln/>
        </p:spPr>
        <p:txBody>
          <a:bodyPr wrap="square" rtlCol="0" anchor="t"/>
          <a:lstStyle/>
          <a:p>
            <a:pPr marL="0" indent="0">
              <a:lnSpc>
                <a:spcPts val="5468"/>
              </a:lnSpc>
              <a:buNone/>
            </a:pPr>
            <a:r>
              <a:rPr lang="en-US" sz="6000" b="1" dirty="0">
                <a:solidFill>
                  <a:schemeClr val="accent4"/>
                </a:solidFill>
                <a:latin typeface="Roboto Slab" pitchFamily="34" charset="0"/>
                <a:ea typeface="Roboto Slab" pitchFamily="34" charset="-122"/>
                <a:cs typeface="Roboto Slab" pitchFamily="34" charset="-120"/>
              </a:rPr>
              <a:t>Use Case</a:t>
            </a:r>
            <a:endParaRPr lang="en-US" sz="6000" b="1" dirty="0">
              <a:solidFill>
                <a:schemeClr val="accent4"/>
              </a:solidFill>
            </a:endParaRPr>
          </a:p>
        </p:txBody>
      </p:sp>
      <p:pic>
        <p:nvPicPr>
          <p:cNvPr id="2" name="Picture 1"/>
          <p:cNvPicPr>
            <a:picLocks noChangeAspect="1"/>
          </p:cNvPicPr>
          <p:nvPr/>
        </p:nvPicPr>
        <p:blipFill>
          <a:blip r:embed="rId3"/>
          <a:stretch>
            <a:fillRect/>
          </a:stretch>
        </p:blipFill>
        <p:spPr>
          <a:xfrm>
            <a:off x="4371299" y="13580"/>
            <a:ext cx="9211352" cy="8216019"/>
          </a:xfrm>
          <a:prstGeom prst="rect">
            <a:avLst/>
          </a:prstGeom>
        </p:spPr>
      </p:pic>
    </p:spTree>
    <p:extLst>
      <p:ext uri="{BB962C8B-B14F-4D97-AF65-F5344CB8AC3E}">
        <p14:creationId xmlns:p14="http://schemas.microsoft.com/office/powerpoint/2010/main" val="81430124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323492" y="418148"/>
            <a:ext cx="7868007" cy="833437"/>
          </a:xfrm>
          <a:prstGeom prst="rect">
            <a:avLst/>
          </a:prstGeom>
          <a:noFill/>
          <a:ln/>
        </p:spPr>
        <p:txBody>
          <a:bodyPr wrap="square" rtlCol="0" anchor="t"/>
          <a:lstStyle/>
          <a:p>
            <a:pPr marL="0" indent="0">
              <a:lnSpc>
                <a:spcPts val="5468"/>
              </a:lnSpc>
              <a:buNone/>
            </a:pPr>
            <a:r>
              <a:rPr lang="en-US" sz="6000" b="1" dirty="0">
                <a:solidFill>
                  <a:schemeClr val="accent4"/>
                </a:solidFill>
                <a:latin typeface="Roboto Slab" pitchFamily="34" charset="0"/>
                <a:ea typeface="Roboto Slab" pitchFamily="34" charset="-122"/>
                <a:cs typeface="Roboto Slab" pitchFamily="34" charset="-120"/>
              </a:rPr>
              <a:t>Written Use Case</a:t>
            </a:r>
            <a:endParaRPr lang="en-US" sz="6000" b="1" dirty="0">
              <a:solidFill>
                <a:schemeClr val="accent4"/>
              </a:solidFill>
            </a:endParaRPr>
          </a:p>
        </p:txBody>
      </p:sp>
      <p:sp>
        <p:nvSpPr>
          <p:cNvPr id="5" name="Shape 9"/>
          <p:cNvSpPr/>
          <p:nvPr/>
        </p:nvSpPr>
        <p:spPr>
          <a:xfrm>
            <a:off x="323493" y="1251585"/>
            <a:ext cx="7696557" cy="6558915"/>
          </a:xfrm>
          <a:prstGeom prst="roundRect">
            <a:avLst>
              <a:gd name="adj" fmla="val 6386"/>
            </a:avLst>
          </a:prstGeom>
          <a:solidFill>
            <a:srgbClr val="E7EDF9"/>
          </a:solidFill>
          <a:ln/>
        </p:spPr>
        <p:txBody>
          <a:bodyPr/>
          <a:lstStyle/>
          <a:p>
            <a:endParaRPr lang="ar-EG"/>
          </a:p>
        </p:txBody>
      </p:sp>
      <p:sp>
        <p:nvSpPr>
          <p:cNvPr id="3" name="TextBox 2"/>
          <p:cNvSpPr txBox="1"/>
          <p:nvPr/>
        </p:nvSpPr>
        <p:spPr>
          <a:xfrm>
            <a:off x="495301" y="1513016"/>
            <a:ext cx="7296150" cy="6617196"/>
          </a:xfrm>
          <a:prstGeom prst="rect">
            <a:avLst/>
          </a:prstGeom>
          <a:noFill/>
        </p:spPr>
        <p:txBody>
          <a:bodyPr wrap="square" rtlCol="1">
            <a:spAutoFit/>
          </a:bodyPr>
          <a:lstStyle/>
          <a:p>
            <a:r>
              <a:rPr lang="en-US" sz="4000" b="1" dirty="0"/>
              <a:t>Login</a:t>
            </a:r>
          </a:p>
          <a:p>
            <a:endParaRPr lang="en-US" sz="2400" dirty="0"/>
          </a:p>
          <a:p>
            <a:r>
              <a:rPr lang="en-US" sz="2400" dirty="0"/>
              <a:t>1. If the student has a valid account on the </a:t>
            </a:r>
            <a:r>
              <a:rPr lang="en-US" sz="2400" dirty="0" err="1"/>
              <a:t>SafeCampus</a:t>
            </a:r>
            <a:r>
              <a:rPr lang="en-US" sz="2400" dirty="0"/>
              <a:t> application. </a:t>
            </a:r>
          </a:p>
          <a:p>
            <a:r>
              <a:rPr lang="en-US" sz="2400" dirty="0"/>
              <a:t>2. The student navigates to the </a:t>
            </a:r>
            <a:r>
              <a:rPr lang="en-US" sz="2400" dirty="0" err="1"/>
              <a:t>SafeCampus</a:t>
            </a:r>
            <a:r>
              <a:rPr lang="en-US" sz="2400" dirty="0"/>
              <a:t> application and enters his registered email address and password. </a:t>
            </a:r>
          </a:p>
          <a:p>
            <a:r>
              <a:rPr lang="en-US" sz="2400" dirty="0"/>
              <a:t>3. If the student forgets his password: The student clicks the "Forgot Password" link and follows the password reset instructions. </a:t>
            </a:r>
          </a:p>
          <a:p>
            <a:r>
              <a:rPr lang="en-US" sz="2400" dirty="0"/>
              <a:t>4. The student clicks the "Login" button. </a:t>
            </a:r>
          </a:p>
          <a:p>
            <a:r>
              <a:rPr lang="en-US" sz="2400" dirty="0"/>
              <a:t>5. The application validates the student's inputs. </a:t>
            </a:r>
          </a:p>
          <a:p>
            <a:r>
              <a:rPr lang="en-US" sz="2400" dirty="0"/>
              <a:t>6. If the inputs are valid, the student is logged into his account. </a:t>
            </a:r>
          </a:p>
          <a:p>
            <a:r>
              <a:rPr lang="en-US" sz="2400" dirty="0"/>
              <a:t>7. If the inputs are invalid, the student is prompted to enter his inputs again.</a:t>
            </a:r>
          </a:p>
          <a:p>
            <a:br>
              <a:rPr lang="en-US" sz="2400" dirty="0"/>
            </a:br>
            <a:endParaRPr lang="ar-EG" sz="2400" dirty="0"/>
          </a:p>
        </p:txBody>
      </p:sp>
    </p:spTree>
    <p:extLst>
      <p:ext uri="{BB962C8B-B14F-4D97-AF65-F5344CB8AC3E}">
        <p14:creationId xmlns:p14="http://schemas.microsoft.com/office/powerpoint/2010/main" val="285087111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323492" y="418148"/>
            <a:ext cx="7868007" cy="833437"/>
          </a:xfrm>
          <a:prstGeom prst="rect">
            <a:avLst/>
          </a:prstGeom>
          <a:noFill/>
          <a:ln/>
        </p:spPr>
        <p:txBody>
          <a:bodyPr wrap="square" rtlCol="0" anchor="t"/>
          <a:lstStyle/>
          <a:p>
            <a:pPr marL="0" indent="0">
              <a:lnSpc>
                <a:spcPts val="5468"/>
              </a:lnSpc>
              <a:buNone/>
            </a:pPr>
            <a:endParaRPr lang="en-US" sz="6000" b="1" dirty="0">
              <a:solidFill>
                <a:schemeClr val="accent4"/>
              </a:solidFill>
            </a:endParaRPr>
          </a:p>
        </p:txBody>
      </p:sp>
      <p:sp>
        <p:nvSpPr>
          <p:cNvPr id="5" name="Shape 9"/>
          <p:cNvSpPr/>
          <p:nvPr/>
        </p:nvSpPr>
        <p:spPr>
          <a:xfrm>
            <a:off x="323493" y="1251585"/>
            <a:ext cx="7696557" cy="6558915"/>
          </a:xfrm>
          <a:prstGeom prst="roundRect">
            <a:avLst>
              <a:gd name="adj" fmla="val 6386"/>
            </a:avLst>
          </a:prstGeom>
          <a:solidFill>
            <a:srgbClr val="E7EDF9"/>
          </a:solidFill>
          <a:ln/>
        </p:spPr>
        <p:txBody>
          <a:bodyPr/>
          <a:lstStyle/>
          <a:p>
            <a:endParaRPr lang="ar-EG"/>
          </a:p>
        </p:txBody>
      </p:sp>
      <p:sp>
        <p:nvSpPr>
          <p:cNvPr id="3" name="TextBox 2"/>
          <p:cNvSpPr txBox="1"/>
          <p:nvPr/>
        </p:nvSpPr>
        <p:spPr>
          <a:xfrm>
            <a:off x="495301" y="1513016"/>
            <a:ext cx="7296150" cy="5878532"/>
          </a:xfrm>
          <a:prstGeom prst="rect">
            <a:avLst/>
          </a:prstGeom>
          <a:noFill/>
        </p:spPr>
        <p:txBody>
          <a:bodyPr wrap="square" rtlCol="1">
            <a:spAutoFit/>
          </a:bodyPr>
          <a:lstStyle/>
          <a:p>
            <a:r>
              <a:rPr lang="en-US" sz="4000" b="1" dirty="0"/>
              <a:t>Sign Up</a:t>
            </a:r>
          </a:p>
          <a:p>
            <a:endParaRPr lang="en-US" sz="2400" dirty="0"/>
          </a:p>
          <a:p>
            <a:r>
              <a:rPr lang="en-US" sz="2400" dirty="0"/>
              <a:t>1. The student navigates to the </a:t>
            </a:r>
            <a:r>
              <a:rPr lang="en-US" sz="2400" dirty="0" err="1"/>
              <a:t>SafeCampus</a:t>
            </a:r>
            <a:r>
              <a:rPr lang="en-US" sz="2400" dirty="0"/>
              <a:t> application and clicks the "Sign Up" button. </a:t>
            </a:r>
          </a:p>
          <a:p>
            <a:r>
              <a:rPr lang="en-US" sz="2400" dirty="0"/>
              <a:t>2. The student enters his name, phone number, college ID, and email, and creates a password. </a:t>
            </a:r>
          </a:p>
          <a:p>
            <a:r>
              <a:rPr lang="en-US" sz="2400" dirty="0"/>
              <a:t>3. The student agrees to the </a:t>
            </a:r>
            <a:r>
              <a:rPr lang="en-US" sz="2400" dirty="0" err="1"/>
              <a:t>SafeCampus</a:t>
            </a:r>
            <a:r>
              <a:rPr lang="en-US" sz="2400" dirty="0"/>
              <a:t> terms of service and clicks the "Sign Up" button. </a:t>
            </a:r>
          </a:p>
          <a:p>
            <a:r>
              <a:rPr lang="en-US" sz="2400" dirty="0"/>
              <a:t>4. If the student enters invalid inputs: The student is prompted to enter valid inputs. </a:t>
            </a:r>
          </a:p>
          <a:p>
            <a:r>
              <a:rPr lang="en-US" sz="2400" dirty="0"/>
              <a:t>5. The student is redirected to the </a:t>
            </a:r>
            <a:r>
              <a:rPr lang="en-US" sz="2400" dirty="0" err="1"/>
              <a:t>SafeCampus</a:t>
            </a:r>
            <a:r>
              <a:rPr lang="en-US" sz="2400" dirty="0"/>
              <a:t> application login page.</a:t>
            </a:r>
          </a:p>
          <a:p>
            <a:br>
              <a:rPr lang="en-US" sz="2400" dirty="0"/>
            </a:br>
            <a:br>
              <a:rPr lang="en-US" sz="2400" dirty="0"/>
            </a:br>
            <a:endParaRPr lang="ar-EG" sz="2400" dirty="0"/>
          </a:p>
        </p:txBody>
      </p:sp>
    </p:spTree>
    <p:extLst>
      <p:ext uri="{BB962C8B-B14F-4D97-AF65-F5344CB8AC3E}">
        <p14:creationId xmlns:p14="http://schemas.microsoft.com/office/powerpoint/2010/main" val="301107001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323492" y="418148"/>
            <a:ext cx="7868007" cy="833437"/>
          </a:xfrm>
          <a:prstGeom prst="rect">
            <a:avLst/>
          </a:prstGeom>
          <a:noFill/>
          <a:ln/>
        </p:spPr>
        <p:txBody>
          <a:bodyPr wrap="square" rtlCol="0" anchor="t"/>
          <a:lstStyle/>
          <a:p>
            <a:pPr marL="0" indent="0">
              <a:lnSpc>
                <a:spcPts val="5468"/>
              </a:lnSpc>
              <a:buNone/>
            </a:pPr>
            <a:endParaRPr lang="en-US" sz="6000" b="1" dirty="0">
              <a:solidFill>
                <a:schemeClr val="accent4"/>
              </a:solidFill>
            </a:endParaRPr>
          </a:p>
        </p:txBody>
      </p:sp>
      <p:sp>
        <p:nvSpPr>
          <p:cNvPr id="5" name="Shape 9"/>
          <p:cNvSpPr/>
          <p:nvPr/>
        </p:nvSpPr>
        <p:spPr>
          <a:xfrm>
            <a:off x="323493" y="1251585"/>
            <a:ext cx="9011007" cy="6558915"/>
          </a:xfrm>
          <a:prstGeom prst="roundRect">
            <a:avLst>
              <a:gd name="adj" fmla="val 6386"/>
            </a:avLst>
          </a:prstGeom>
          <a:solidFill>
            <a:srgbClr val="E7EDF9"/>
          </a:solidFill>
          <a:ln/>
        </p:spPr>
        <p:txBody>
          <a:bodyPr/>
          <a:lstStyle/>
          <a:p>
            <a:endParaRPr lang="ar-EG"/>
          </a:p>
        </p:txBody>
      </p:sp>
      <p:sp>
        <p:nvSpPr>
          <p:cNvPr id="3" name="TextBox 2"/>
          <p:cNvSpPr txBox="1"/>
          <p:nvPr/>
        </p:nvSpPr>
        <p:spPr>
          <a:xfrm>
            <a:off x="523696" y="1406127"/>
            <a:ext cx="8525054" cy="6247864"/>
          </a:xfrm>
          <a:prstGeom prst="rect">
            <a:avLst/>
          </a:prstGeom>
          <a:noFill/>
        </p:spPr>
        <p:txBody>
          <a:bodyPr wrap="square" rtlCol="1">
            <a:spAutoFit/>
          </a:bodyPr>
          <a:lstStyle/>
          <a:p>
            <a:r>
              <a:rPr lang="en-US" sz="4000" b="1" dirty="0"/>
              <a:t>Report a problem</a:t>
            </a:r>
          </a:p>
          <a:p>
            <a:endParaRPr lang="en-US" sz="2400" dirty="0"/>
          </a:p>
          <a:p>
            <a:r>
              <a:rPr lang="en-US" sz="2400" dirty="0"/>
              <a:t>1. The student launches the </a:t>
            </a:r>
            <a:r>
              <a:rPr lang="en-US" sz="2400" dirty="0" err="1"/>
              <a:t>SafeCampus</a:t>
            </a:r>
            <a:r>
              <a:rPr lang="en-US" sz="2400" dirty="0"/>
              <a:t> app on his mobile device. </a:t>
            </a:r>
          </a:p>
          <a:p>
            <a:r>
              <a:rPr lang="en-US" sz="2400" dirty="0"/>
              <a:t>2. The student logs in to the app. </a:t>
            </a:r>
          </a:p>
          <a:p>
            <a:r>
              <a:rPr lang="en-US" sz="2400" dirty="0"/>
              <a:t>3. From the home page, the student clicks on the "Report a problem" button. </a:t>
            </a:r>
          </a:p>
          <a:p>
            <a:r>
              <a:rPr lang="en-US" sz="2400" dirty="0"/>
              <a:t>4. The student is presented with a form to describe the problem. </a:t>
            </a:r>
          </a:p>
          <a:p>
            <a:r>
              <a:rPr lang="en-US" sz="2400" dirty="0"/>
              <a:t>5. The student provides a brief description of his problem. </a:t>
            </a:r>
          </a:p>
          <a:p>
            <a:r>
              <a:rPr lang="en-US" sz="2400" dirty="0"/>
              <a:t>6. The student attaches a photo of his problem (optional). </a:t>
            </a:r>
          </a:p>
          <a:p>
            <a:r>
              <a:rPr lang="en-US" sz="2400" dirty="0"/>
              <a:t>7. The student submits the problem report. </a:t>
            </a:r>
          </a:p>
          <a:p>
            <a:r>
              <a:rPr lang="en-US" sz="2400" dirty="0"/>
              <a:t>8. The application sends a confirmation alert to the user acknowledging his report. </a:t>
            </a:r>
          </a:p>
          <a:p>
            <a:r>
              <a:rPr lang="en-US" sz="2400" dirty="0"/>
              <a:t>9. A security reviews the problem report and takes appropriate action to resolve the issue. </a:t>
            </a:r>
          </a:p>
          <a:p>
            <a:r>
              <a:rPr lang="en-US" sz="2400" dirty="0"/>
              <a:t>10. The student informs the application that the problem has been solved.</a:t>
            </a:r>
            <a:endParaRPr lang="ar-EG" sz="2400" dirty="0"/>
          </a:p>
        </p:txBody>
      </p:sp>
    </p:spTree>
    <p:extLst>
      <p:ext uri="{BB962C8B-B14F-4D97-AF65-F5344CB8AC3E}">
        <p14:creationId xmlns:p14="http://schemas.microsoft.com/office/powerpoint/2010/main" val="71978106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323492" y="418148"/>
            <a:ext cx="7868007" cy="833437"/>
          </a:xfrm>
          <a:prstGeom prst="rect">
            <a:avLst/>
          </a:prstGeom>
          <a:noFill/>
          <a:ln/>
        </p:spPr>
        <p:txBody>
          <a:bodyPr wrap="square" rtlCol="0" anchor="t"/>
          <a:lstStyle/>
          <a:p>
            <a:pPr marL="0" indent="0">
              <a:lnSpc>
                <a:spcPts val="5468"/>
              </a:lnSpc>
              <a:buNone/>
            </a:pPr>
            <a:endParaRPr lang="en-US" sz="6000" b="1" dirty="0">
              <a:solidFill>
                <a:schemeClr val="accent4"/>
              </a:solidFill>
            </a:endParaRPr>
          </a:p>
        </p:txBody>
      </p:sp>
      <p:sp>
        <p:nvSpPr>
          <p:cNvPr id="5" name="Shape 9"/>
          <p:cNvSpPr/>
          <p:nvPr/>
        </p:nvSpPr>
        <p:spPr>
          <a:xfrm>
            <a:off x="323493" y="1251585"/>
            <a:ext cx="7696557" cy="6558915"/>
          </a:xfrm>
          <a:prstGeom prst="roundRect">
            <a:avLst>
              <a:gd name="adj" fmla="val 6386"/>
            </a:avLst>
          </a:prstGeom>
          <a:solidFill>
            <a:srgbClr val="E7EDF9"/>
          </a:solidFill>
          <a:ln/>
        </p:spPr>
        <p:txBody>
          <a:bodyPr/>
          <a:lstStyle/>
          <a:p>
            <a:endParaRPr lang="ar-EG"/>
          </a:p>
        </p:txBody>
      </p:sp>
      <p:sp>
        <p:nvSpPr>
          <p:cNvPr id="3" name="TextBox 2"/>
          <p:cNvSpPr txBox="1"/>
          <p:nvPr/>
        </p:nvSpPr>
        <p:spPr>
          <a:xfrm>
            <a:off x="495301" y="1513016"/>
            <a:ext cx="7296150" cy="6863417"/>
          </a:xfrm>
          <a:prstGeom prst="rect">
            <a:avLst/>
          </a:prstGeom>
          <a:noFill/>
        </p:spPr>
        <p:txBody>
          <a:bodyPr wrap="square" rtlCol="1">
            <a:spAutoFit/>
          </a:bodyPr>
          <a:lstStyle/>
          <a:p>
            <a:r>
              <a:rPr lang="en-US" sz="4000" b="1" dirty="0"/>
              <a:t>Request first aid</a:t>
            </a:r>
          </a:p>
          <a:p>
            <a:endParaRPr lang="en-US" sz="4000" b="1" dirty="0"/>
          </a:p>
          <a:p>
            <a:r>
              <a:rPr lang="en-US" sz="2400" dirty="0"/>
              <a:t>1. The injured student or any person next to him contact Security via the application. </a:t>
            </a:r>
          </a:p>
          <a:p>
            <a:r>
              <a:rPr lang="en-US" sz="2400" dirty="0"/>
              <a:t>2. The injured student or the person else clearly states their need for first aid assistance by clicking the "first aid" button and providing main information, such as: Do you/Does he have any chronic diseases?, Provide brief details about your/his case. </a:t>
            </a:r>
          </a:p>
          <a:p>
            <a:r>
              <a:rPr lang="en-US" sz="2400" dirty="0"/>
              <a:t>3. Click the "Submit" button. </a:t>
            </a:r>
          </a:p>
          <a:p>
            <a:r>
              <a:rPr lang="en-US" sz="2400" dirty="0"/>
              <a:t>4. The injured Student or the person else follows the instructions provided by the application until assistance arrives. </a:t>
            </a:r>
          </a:p>
          <a:p>
            <a:br>
              <a:rPr lang="en-US" sz="2400" dirty="0"/>
            </a:br>
            <a:br>
              <a:rPr lang="en-US" sz="2400" dirty="0"/>
            </a:br>
            <a:br>
              <a:rPr lang="en-US" sz="2400" dirty="0"/>
            </a:br>
            <a:endParaRPr lang="ar-EG" sz="2400" dirty="0"/>
          </a:p>
        </p:txBody>
      </p:sp>
    </p:spTree>
    <p:extLst>
      <p:ext uri="{BB962C8B-B14F-4D97-AF65-F5344CB8AC3E}">
        <p14:creationId xmlns:p14="http://schemas.microsoft.com/office/powerpoint/2010/main" val="351339920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323492" y="418148"/>
            <a:ext cx="7868007" cy="833437"/>
          </a:xfrm>
          <a:prstGeom prst="rect">
            <a:avLst/>
          </a:prstGeom>
          <a:noFill/>
          <a:ln/>
        </p:spPr>
        <p:txBody>
          <a:bodyPr wrap="square" rtlCol="0" anchor="t"/>
          <a:lstStyle/>
          <a:p>
            <a:pPr marL="0" indent="0">
              <a:lnSpc>
                <a:spcPts val="5468"/>
              </a:lnSpc>
              <a:buNone/>
            </a:pPr>
            <a:endParaRPr lang="en-US" sz="6000" b="1" dirty="0">
              <a:solidFill>
                <a:schemeClr val="accent4"/>
              </a:solidFill>
            </a:endParaRPr>
          </a:p>
        </p:txBody>
      </p:sp>
      <p:sp>
        <p:nvSpPr>
          <p:cNvPr id="5" name="Shape 9"/>
          <p:cNvSpPr/>
          <p:nvPr/>
        </p:nvSpPr>
        <p:spPr>
          <a:xfrm>
            <a:off x="323493" y="1251585"/>
            <a:ext cx="7696557" cy="6558915"/>
          </a:xfrm>
          <a:prstGeom prst="roundRect">
            <a:avLst>
              <a:gd name="adj" fmla="val 6386"/>
            </a:avLst>
          </a:prstGeom>
          <a:solidFill>
            <a:srgbClr val="E7EDF9"/>
          </a:solidFill>
          <a:ln/>
        </p:spPr>
        <p:txBody>
          <a:bodyPr/>
          <a:lstStyle/>
          <a:p>
            <a:endParaRPr lang="ar-EG"/>
          </a:p>
        </p:txBody>
      </p:sp>
      <p:sp>
        <p:nvSpPr>
          <p:cNvPr id="3" name="TextBox 2"/>
          <p:cNvSpPr txBox="1"/>
          <p:nvPr/>
        </p:nvSpPr>
        <p:spPr>
          <a:xfrm>
            <a:off x="495301" y="1513016"/>
            <a:ext cx="7296150" cy="7232749"/>
          </a:xfrm>
          <a:prstGeom prst="rect">
            <a:avLst/>
          </a:prstGeom>
          <a:noFill/>
        </p:spPr>
        <p:txBody>
          <a:bodyPr wrap="square" rtlCol="1">
            <a:spAutoFit/>
          </a:bodyPr>
          <a:lstStyle/>
          <a:p>
            <a:r>
              <a:rPr lang="en-US" sz="4000" b="1" dirty="0"/>
              <a:t>Request SOS</a:t>
            </a:r>
          </a:p>
          <a:p>
            <a:endParaRPr lang="en-US" sz="4000" b="1" dirty="0"/>
          </a:p>
          <a:p>
            <a:r>
              <a:rPr lang="en-US" sz="2400" dirty="0"/>
              <a:t>1. The student clicks on the "SOS" button. </a:t>
            </a:r>
          </a:p>
          <a:p>
            <a:r>
              <a:rPr lang="en-US" sz="2400" dirty="0"/>
              <a:t>2. While the student is waiting for the security personnel, he can contact the security personnel to provide him with more clear information or send a message. 3. The system sends a confirmation alert to the user acknowledging his report and that his location has been sent to security. </a:t>
            </a:r>
          </a:p>
          <a:p>
            <a:r>
              <a:rPr lang="en-US" sz="2400" dirty="0"/>
              <a:t>4. A security reviews the problem report and takes appropriate action to resolve the issue. </a:t>
            </a:r>
          </a:p>
          <a:p>
            <a:r>
              <a:rPr lang="en-US" sz="2400" dirty="0"/>
              <a:t>5. The student informs the application that the problem has been solved. </a:t>
            </a:r>
          </a:p>
          <a:p>
            <a:br>
              <a:rPr lang="en-US" sz="2400" dirty="0"/>
            </a:br>
            <a:br>
              <a:rPr lang="en-US" sz="2400" dirty="0"/>
            </a:br>
            <a:br>
              <a:rPr lang="en-US" sz="2400" dirty="0"/>
            </a:br>
            <a:br>
              <a:rPr lang="en-US" sz="2400" dirty="0"/>
            </a:br>
            <a:endParaRPr lang="ar-EG" sz="2400" dirty="0"/>
          </a:p>
        </p:txBody>
      </p:sp>
    </p:spTree>
    <p:extLst>
      <p:ext uri="{BB962C8B-B14F-4D97-AF65-F5344CB8AC3E}">
        <p14:creationId xmlns:p14="http://schemas.microsoft.com/office/powerpoint/2010/main" val="350939122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323492" y="418148"/>
            <a:ext cx="11297008" cy="833437"/>
          </a:xfrm>
          <a:prstGeom prst="rect">
            <a:avLst/>
          </a:prstGeom>
          <a:noFill/>
          <a:ln/>
        </p:spPr>
        <p:txBody>
          <a:bodyPr wrap="square" rtlCol="0" anchor="t"/>
          <a:lstStyle/>
          <a:p>
            <a:pPr marL="0" indent="0">
              <a:lnSpc>
                <a:spcPts val="5468"/>
              </a:lnSpc>
              <a:buNone/>
            </a:pPr>
            <a:r>
              <a:rPr lang="en-US" sz="6000" b="1" dirty="0">
                <a:solidFill>
                  <a:schemeClr val="accent4"/>
                </a:solidFill>
                <a:latin typeface="Roboto Slab" pitchFamily="34" charset="0"/>
                <a:ea typeface="Roboto Slab" pitchFamily="34" charset="-122"/>
                <a:cs typeface="Roboto Slab" pitchFamily="34" charset="-120"/>
              </a:rPr>
              <a:t>Security’s Section</a:t>
            </a:r>
            <a:endParaRPr lang="en-US" sz="6000" b="1" dirty="0">
              <a:solidFill>
                <a:schemeClr val="accent4"/>
              </a:solidFill>
            </a:endParaRPr>
          </a:p>
        </p:txBody>
      </p:sp>
      <p:sp>
        <p:nvSpPr>
          <p:cNvPr id="5" name="Shape 9"/>
          <p:cNvSpPr/>
          <p:nvPr/>
        </p:nvSpPr>
        <p:spPr>
          <a:xfrm>
            <a:off x="323493" y="1251585"/>
            <a:ext cx="7696557" cy="6558915"/>
          </a:xfrm>
          <a:prstGeom prst="roundRect">
            <a:avLst>
              <a:gd name="adj" fmla="val 6386"/>
            </a:avLst>
          </a:prstGeom>
          <a:solidFill>
            <a:srgbClr val="E7EDF9"/>
          </a:solidFill>
          <a:ln/>
        </p:spPr>
        <p:txBody>
          <a:bodyPr/>
          <a:lstStyle/>
          <a:p>
            <a:endParaRPr lang="ar-EG"/>
          </a:p>
        </p:txBody>
      </p:sp>
      <p:sp>
        <p:nvSpPr>
          <p:cNvPr id="3" name="TextBox 2"/>
          <p:cNvSpPr txBox="1"/>
          <p:nvPr/>
        </p:nvSpPr>
        <p:spPr>
          <a:xfrm>
            <a:off x="495301" y="1513016"/>
            <a:ext cx="7296150" cy="7602081"/>
          </a:xfrm>
          <a:prstGeom prst="rect">
            <a:avLst/>
          </a:prstGeom>
          <a:noFill/>
        </p:spPr>
        <p:txBody>
          <a:bodyPr wrap="square" rtlCol="1">
            <a:spAutoFit/>
          </a:bodyPr>
          <a:lstStyle/>
          <a:p>
            <a:r>
              <a:rPr lang="en-US" sz="4000" b="1" dirty="0"/>
              <a:t>Monitor camera feeds</a:t>
            </a:r>
          </a:p>
          <a:p>
            <a:endParaRPr lang="en-US" sz="4000" b="1" dirty="0"/>
          </a:p>
          <a:p>
            <a:r>
              <a:rPr lang="en-US" sz="2400" dirty="0"/>
              <a:t>1. The security personnel logs into the application by its email address and password.</a:t>
            </a:r>
          </a:p>
          <a:p>
            <a:r>
              <a:rPr lang="en-US" sz="2400" dirty="0"/>
              <a:t>2. The application will check if the email address and password are valid or not.</a:t>
            </a:r>
          </a:p>
          <a:p>
            <a:r>
              <a:rPr lang="en-US" sz="2400" dirty="0"/>
              <a:t>3. The application confirms the validity of the information entered.</a:t>
            </a:r>
          </a:p>
          <a:p>
            <a:r>
              <a:rPr lang="en-US" sz="2400" dirty="0"/>
              <a:t>4. The application will open the security panel.</a:t>
            </a:r>
          </a:p>
          <a:p>
            <a:r>
              <a:rPr lang="en-US" sz="2400" dirty="0"/>
              <a:t>5. The security personnel taps on the "Monitor Camera Feeds" button in the mobile application.</a:t>
            </a:r>
          </a:p>
          <a:p>
            <a:r>
              <a:rPr lang="en-US" sz="2400" dirty="0"/>
              <a:t>6. The security personnel monitors the camera feed for any suspicious activity.</a:t>
            </a:r>
          </a:p>
          <a:p>
            <a:r>
              <a:rPr lang="en-US" sz="2400" dirty="0"/>
              <a:t>7. if the security guard observes suspicious activity on the camera feed: he takes appropriate action.</a:t>
            </a:r>
            <a:br>
              <a:rPr lang="en-US" sz="2400" dirty="0"/>
            </a:br>
            <a:br>
              <a:rPr lang="en-US" sz="2400" dirty="0"/>
            </a:br>
            <a:br>
              <a:rPr lang="en-US" sz="2400" dirty="0"/>
            </a:br>
            <a:br>
              <a:rPr lang="en-US" sz="2400" dirty="0"/>
            </a:br>
            <a:endParaRPr lang="ar-EG" sz="2400" dirty="0"/>
          </a:p>
        </p:txBody>
      </p:sp>
    </p:spTree>
    <p:extLst>
      <p:ext uri="{BB962C8B-B14F-4D97-AF65-F5344CB8AC3E}">
        <p14:creationId xmlns:p14="http://schemas.microsoft.com/office/powerpoint/2010/main" val="303173590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323492" y="418148"/>
            <a:ext cx="11297008" cy="833437"/>
          </a:xfrm>
          <a:prstGeom prst="rect">
            <a:avLst/>
          </a:prstGeom>
          <a:noFill/>
          <a:ln/>
        </p:spPr>
        <p:txBody>
          <a:bodyPr wrap="square" rtlCol="0" anchor="t"/>
          <a:lstStyle/>
          <a:p>
            <a:pPr marL="0" indent="0">
              <a:lnSpc>
                <a:spcPts val="5468"/>
              </a:lnSpc>
              <a:buNone/>
            </a:pPr>
            <a:endParaRPr lang="en-US" sz="6000" b="1" dirty="0">
              <a:solidFill>
                <a:schemeClr val="accent4"/>
              </a:solidFill>
            </a:endParaRPr>
          </a:p>
        </p:txBody>
      </p:sp>
      <p:sp>
        <p:nvSpPr>
          <p:cNvPr id="5" name="Shape 9"/>
          <p:cNvSpPr/>
          <p:nvPr/>
        </p:nvSpPr>
        <p:spPr>
          <a:xfrm>
            <a:off x="323493" y="1251585"/>
            <a:ext cx="7696557" cy="6558915"/>
          </a:xfrm>
          <a:prstGeom prst="roundRect">
            <a:avLst>
              <a:gd name="adj" fmla="val 6386"/>
            </a:avLst>
          </a:prstGeom>
          <a:solidFill>
            <a:srgbClr val="E7EDF9"/>
          </a:solidFill>
          <a:ln/>
        </p:spPr>
        <p:txBody>
          <a:bodyPr/>
          <a:lstStyle/>
          <a:p>
            <a:endParaRPr lang="ar-EG"/>
          </a:p>
        </p:txBody>
      </p:sp>
      <p:sp>
        <p:nvSpPr>
          <p:cNvPr id="3" name="TextBox 2"/>
          <p:cNvSpPr txBox="1"/>
          <p:nvPr/>
        </p:nvSpPr>
        <p:spPr>
          <a:xfrm>
            <a:off x="495301" y="1513016"/>
            <a:ext cx="7296150" cy="7971413"/>
          </a:xfrm>
          <a:prstGeom prst="rect">
            <a:avLst/>
          </a:prstGeom>
          <a:noFill/>
        </p:spPr>
        <p:txBody>
          <a:bodyPr wrap="square" rtlCol="1">
            <a:spAutoFit/>
          </a:bodyPr>
          <a:lstStyle/>
          <a:p>
            <a:r>
              <a:rPr lang="en-US" sz="4000" b="1" dirty="0"/>
              <a:t>Responds to reported problem</a:t>
            </a:r>
          </a:p>
          <a:p>
            <a:endParaRPr lang="en-US" sz="4000" b="1" dirty="0"/>
          </a:p>
          <a:p>
            <a:r>
              <a:rPr lang="en-US" sz="2400" dirty="0"/>
              <a:t>1. The security guard receives a notification about a new problem report.</a:t>
            </a:r>
          </a:p>
          <a:p>
            <a:r>
              <a:rPr lang="en-US" sz="2400" dirty="0"/>
              <a:t>2. The security guard opens the notification and views the student's problem report.</a:t>
            </a:r>
          </a:p>
          <a:p>
            <a:r>
              <a:rPr lang="en-US" sz="2400" dirty="0"/>
              <a:t>3. The report provides essential information about the accident, including: the location of the accident, type of report (e.g., SOS, first aid, non-urgent problem), phone of the requester, more details if available</a:t>
            </a:r>
          </a:p>
          <a:p>
            <a:r>
              <a:rPr lang="en-US" sz="2400" dirty="0"/>
              <a:t>4. The security personnel decides how to respond to the problem report (e.g., Go to the location of the accident via the location sent through the application, contact the student (optional), ..).</a:t>
            </a:r>
          </a:p>
          <a:p>
            <a:br>
              <a:rPr lang="en-US" sz="2400" dirty="0"/>
            </a:br>
            <a:br>
              <a:rPr lang="en-US" sz="2400" dirty="0"/>
            </a:br>
            <a:br>
              <a:rPr lang="en-US" sz="2400" dirty="0"/>
            </a:br>
            <a:br>
              <a:rPr lang="en-US" sz="2400" dirty="0"/>
            </a:br>
            <a:br>
              <a:rPr lang="en-US" sz="2400" dirty="0"/>
            </a:br>
            <a:endParaRPr lang="ar-EG" sz="2400" dirty="0"/>
          </a:p>
        </p:txBody>
      </p:sp>
    </p:spTree>
    <p:extLst>
      <p:ext uri="{BB962C8B-B14F-4D97-AF65-F5344CB8AC3E}">
        <p14:creationId xmlns:p14="http://schemas.microsoft.com/office/powerpoint/2010/main" val="101439311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323492" y="418148"/>
            <a:ext cx="11297008" cy="833437"/>
          </a:xfrm>
          <a:prstGeom prst="rect">
            <a:avLst/>
          </a:prstGeom>
          <a:noFill/>
          <a:ln/>
        </p:spPr>
        <p:txBody>
          <a:bodyPr wrap="square" rtlCol="0" anchor="t"/>
          <a:lstStyle/>
          <a:p>
            <a:pPr marL="0" indent="0">
              <a:lnSpc>
                <a:spcPts val="5468"/>
              </a:lnSpc>
              <a:buNone/>
            </a:pPr>
            <a:r>
              <a:rPr lang="en-US" sz="6000" b="1" dirty="0">
                <a:solidFill>
                  <a:schemeClr val="accent4"/>
                </a:solidFill>
                <a:latin typeface="Roboto Slab" pitchFamily="34" charset="0"/>
                <a:ea typeface="Roboto Slab" pitchFamily="34" charset="-122"/>
                <a:cs typeface="Roboto Slab" pitchFamily="34" charset="-120"/>
              </a:rPr>
              <a:t>Admin’s Section</a:t>
            </a:r>
            <a:endParaRPr lang="en-US" sz="6000" b="1" dirty="0">
              <a:solidFill>
                <a:schemeClr val="accent4"/>
              </a:solidFill>
            </a:endParaRPr>
          </a:p>
        </p:txBody>
      </p:sp>
      <p:sp>
        <p:nvSpPr>
          <p:cNvPr id="5" name="Shape 9"/>
          <p:cNvSpPr/>
          <p:nvPr/>
        </p:nvSpPr>
        <p:spPr>
          <a:xfrm>
            <a:off x="323493" y="1251585"/>
            <a:ext cx="7696557" cy="6558915"/>
          </a:xfrm>
          <a:prstGeom prst="roundRect">
            <a:avLst>
              <a:gd name="adj" fmla="val 6386"/>
            </a:avLst>
          </a:prstGeom>
          <a:solidFill>
            <a:srgbClr val="E7EDF9"/>
          </a:solidFill>
          <a:ln/>
        </p:spPr>
        <p:txBody>
          <a:bodyPr/>
          <a:lstStyle/>
          <a:p>
            <a:endParaRPr lang="ar-EG"/>
          </a:p>
        </p:txBody>
      </p:sp>
      <p:sp>
        <p:nvSpPr>
          <p:cNvPr id="3" name="TextBox 2"/>
          <p:cNvSpPr txBox="1"/>
          <p:nvPr/>
        </p:nvSpPr>
        <p:spPr>
          <a:xfrm>
            <a:off x="495301" y="1513016"/>
            <a:ext cx="7296150" cy="6124754"/>
          </a:xfrm>
          <a:prstGeom prst="rect">
            <a:avLst/>
          </a:prstGeom>
          <a:noFill/>
        </p:spPr>
        <p:txBody>
          <a:bodyPr wrap="square" rtlCol="1">
            <a:spAutoFit/>
          </a:bodyPr>
          <a:lstStyle/>
          <a:p>
            <a:r>
              <a:rPr lang="en-US" sz="4000" b="1" dirty="0"/>
              <a:t>Responds to reported problem</a:t>
            </a:r>
          </a:p>
          <a:p>
            <a:endParaRPr lang="en-US" sz="4000" b="1" dirty="0"/>
          </a:p>
          <a:p>
            <a:r>
              <a:rPr lang="en-US" sz="2400" dirty="0"/>
              <a:t>1. The admin selects the type of basic data they want to maintain (e.g., security personnel/manager accounts, maintenance requests, etc.).</a:t>
            </a:r>
          </a:p>
          <a:p>
            <a:r>
              <a:rPr lang="en-US" sz="2400" dirty="0"/>
              <a:t>2. The admin performs the desired actions (e.g., add, edit, delete data).</a:t>
            </a:r>
          </a:p>
          <a:p>
            <a:r>
              <a:rPr lang="en-US" sz="2400" dirty="0"/>
              <a:t>3. The admin saves the changes.</a:t>
            </a:r>
          </a:p>
          <a:p>
            <a:br>
              <a:rPr lang="en-US" sz="2400" dirty="0"/>
            </a:br>
            <a:br>
              <a:rPr lang="en-US" sz="2400" dirty="0"/>
            </a:br>
            <a:br>
              <a:rPr lang="en-US" sz="2400" dirty="0"/>
            </a:br>
            <a:br>
              <a:rPr lang="en-US" sz="2400" dirty="0"/>
            </a:br>
            <a:br>
              <a:rPr lang="en-US" sz="2400" dirty="0"/>
            </a:br>
            <a:br>
              <a:rPr lang="en-US" sz="2400" dirty="0"/>
            </a:br>
            <a:endParaRPr lang="ar-EG" sz="2400" dirty="0"/>
          </a:p>
        </p:txBody>
      </p:sp>
    </p:spTree>
    <p:extLst>
      <p:ext uri="{BB962C8B-B14F-4D97-AF65-F5344CB8AC3E}">
        <p14:creationId xmlns:p14="http://schemas.microsoft.com/office/powerpoint/2010/main" val="388538258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323492" y="418148"/>
            <a:ext cx="11297008" cy="833437"/>
          </a:xfrm>
          <a:prstGeom prst="rect">
            <a:avLst/>
          </a:prstGeom>
          <a:noFill/>
          <a:ln/>
        </p:spPr>
        <p:txBody>
          <a:bodyPr wrap="square" rtlCol="0" anchor="t"/>
          <a:lstStyle/>
          <a:p>
            <a:pPr marL="0" indent="0">
              <a:lnSpc>
                <a:spcPts val="5468"/>
              </a:lnSpc>
              <a:buNone/>
            </a:pPr>
            <a:endParaRPr lang="en-US" sz="6000" b="1" dirty="0">
              <a:solidFill>
                <a:schemeClr val="accent4"/>
              </a:solidFill>
            </a:endParaRPr>
          </a:p>
        </p:txBody>
      </p:sp>
      <p:sp>
        <p:nvSpPr>
          <p:cNvPr id="5" name="Shape 9"/>
          <p:cNvSpPr/>
          <p:nvPr/>
        </p:nvSpPr>
        <p:spPr>
          <a:xfrm>
            <a:off x="323493" y="1251585"/>
            <a:ext cx="7696557" cy="6558915"/>
          </a:xfrm>
          <a:prstGeom prst="roundRect">
            <a:avLst>
              <a:gd name="adj" fmla="val 6386"/>
            </a:avLst>
          </a:prstGeom>
          <a:solidFill>
            <a:srgbClr val="E7EDF9"/>
          </a:solidFill>
          <a:ln/>
        </p:spPr>
        <p:txBody>
          <a:bodyPr/>
          <a:lstStyle/>
          <a:p>
            <a:endParaRPr lang="ar-EG"/>
          </a:p>
        </p:txBody>
      </p:sp>
      <p:sp>
        <p:nvSpPr>
          <p:cNvPr id="3" name="TextBox 2"/>
          <p:cNvSpPr txBox="1"/>
          <p:nvPr/>
        </p:nvSpPr>
        <p:spPr>
          <a:xfrm>
            <a:off x="495301" y="1513016"/>
            <a:ext cx="7296150" cy="7602081"/>
          </a:xfrm>
          <a:prstGeom prst="rect">
            <a:avLst/>
          </a:prstGeom>
          <a:noFill/>
        </p:spPr>
        <p:txBody>
          <a:bodyPr wrap="square" rtlCol="1">
            <a:spAutoFit/>
          </a:bodyPr>
          <a:lstStyle/>
          <a:p>
            <a:r>
              <a:rPr lang="en-US" sz="4000" b="1" dirty="0"/>
              <a:t>Responds to reported problem</a:t>
            </a:r>
          </a:p>
          <a:p>
            <a:endParaRPr lang="en-US" sz="4000" b="1" dirty="0"/>
          </a:p>
          <a:p>
            <a:r>
              <a:rPr lang="en-US" sz="2400" dirty="0"/>
              <a:t>1. The admin logs into his account by its email address and password.</a:t>
            </a:r>
          </a:p>
          <a:p>
            <a:r>
              <a:rPr lang="en-US" sz="2400" dirty="0"/>
              <a:t>2. The application will check if the email address and password are valid or not.</a:t>
            </a:r>
          </a:p>
          <a:p>
            <a:r>
              <a:rPr lang="en-US" sz="2400" dirty="0"/>
              <a:t>3. The application confirms the validity of the information entered.</a:t>
            </a:r>
          </a:p>
          <a:p>
            <a:r>
              <a:rPr lang="en-US" sz="2400" dirty="0"/>
              <a:t>4. The application will open the admin panel.</a:t>
            </a:r>
          </a:p>
          <a:p>
            <a:r>
              <a:rPr lang="en-US" sz="2400" dirty="0"/>
              <a:t>5. The admin will be able to maintain the data (add, delete &amp; update) through the admin panel.</a:t>
            </a:r>
          </a:p>
          <a:p>
            <a:br>
              <a:rPr lang="en-US" sz="2400" dirty="0"/>
            </a:br>
            <a:br>
              <a:rPr lang="en-US" sz="2400" dirty="0"/>
            </a:br>
            <a:br>
              <a:rPr lang="en-US" sz="2400" dirty="0"/>
            </a:br>
            <a:br>
              <a:rPr lang="en-US" sz="2400" dirty="0"/>
            </a:br>
            <a:br>
              <a:rPr lang="en-US" sz="2400" dirty="0"/>
            </a:br>
            <a:br>
              <a:rPr lang="en-US" sz="2400" dirty="0"/>
            </a:br>
            <a:br>
              <a:rPr lang="en-US" sz="2400" dirty="0"/>
            </a:br>
            <a:endParaRPr lang="ar-EG" sz="2400" dirty="0"/>
          </a:p>
        </p:txBody>
      </p:sp>
    </p:spTree>
    <p:extLst>
      <p:ext uri="{BB962C8B-B14F-4D97-AF65-F5344CB8AC3E}">
        <p14:creationId xmlns:p14="http://schemas.microsoft.com/office/powerpoint/2010/main" val="240361457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323492" y="418148"/>
            <a:ext cx="11297008" cy="833437"/>
          </a:xfrm>
          <a:prstGeom prst="rect">
            <a:avLst/>
          </a:prstGeom>
          <a:noFill/>
          <a:ln/>
        </p:spPr>
        <p:txBody>
          <a:bodyPr wrap="square" rtlCol="0" anchor="t"/>
          <a:lstStyle/>
          <a:p>
            <a:pPr marL="0" indent="0">
              <a:lnSpc>
                <a:spcPts val="5468"/>
              </a:lnSpc>
              <a:buNone/>
            </a:pPr>
            <a:r>
              <a:rPr lang="en-US" sz="6000" b="1" dirty="0">
                <a:solidFill>
                  <a:schemeClr val="accent4"/>
                </a:solidFill>
                <a:latin typeface="Roboto Slab" pitchFamily="34" charset="0"/>
                <a:ea typeface="Roboto Slab" pitchFamily="34" charset="-122"/>
                <a:cs typeface="Roboto Slab" pitchFamily="34" charset="-120"/>
              </a:rPr>
              <a:t>Managers Section</a:t>
            </a:r>
            <a:endParaRPr lang="en-US" sz="6000" b="1" dirty="0">
              <a:solidFill>
                <a:schemeClr val="accent4"/>
              </a:solidFill>
            </a:endParaRPr>
          </a:p>
        </p:txBody>
      </p:sp>
      <p:sp>
        <p:nvSpPr>
          <p:cNvPr id="5" name="Shape 9"/>
          <p:cNvSpPr/>
          <p:nvPr/>
        </p:nvSpPr>
        <p:spPr>
          <a:xfrm>
            <a:off x="323493" y="1251585"/>
            <a:ext cx="7696557" cy="6558915"/>
          </a:xfrm>
          <a:prstGeom prst="roundRect">
            <a:avLst>
              <a:gd name="adj" fmla="val 6386"/>
            </a:avLst>
          </a:prstGeom>
          <a:solidFill>
            <a:srgbClr val="E7EDF9"/>
          </a:solidFill>
          <a:ln/>
        </p:spPr>
        <p:txBody>
          <a:bodyPr/>
          <a:lstStyle/>
          <a:p>
            <a:endParaRPr lang="ar-EG"/>
          </a:p>
        </p:txBody>
      </p:sp>
      <p:sp>
        <p:nvSpPr>
          <p:cNvPr id="3" name="TextBox 2"/>
          <p:cNvSpPr txBox="1"/>
          <p:nvPr/>
        </p:nvSpPr>
        <p:spPr>
          <a:xfrm>
            <a:off x="495301" y="1513016"/>
            <a:ext cx="7296150" cy="8710077"/>
          </a:xfrm>
          <a:prstGeom prst="rect">
            <a:avLst/>
          </a:prstGeom>
          <a:noFill/>
        </p:spPr>
        <p:txBody>
          <a:bodyPr wrap="square" rtlCol="1">
            <a:spAutoFit/>
          </a:bodyPr>
          <a:lstStyle/>
          <a:p>
            <a:r>
              <a:rPr lang="en-US" sz="4000" b="1" dirty="0"/>
              <a:t>Responds to reported problem</a:t>
            </a:r>
          </a:p>
          <a:p>
            <a:endParaRPr lang="en-US" sz="4000" b="1" dirty="0"/>
          </a:p>
          <a:p>
            <a:r>
              <a:rPr lang="en-US" sz="2400" dirty="0"/>
              <a:t>1. The manager logs into his account.</a:t>
            </a:r>
          </a:p>
          <a:p>
            <a:r>
              <a:rPr lang="en-US" sz="2400" dirty="0"/>
              <a:t>2. The application generates the report and displays it to the manager.</a:t>
            </a:r>
          </a:p>
          <a:p>
            <a:r>
              <a:rPr lang="en-US" sz="2400" dirty="0"/>
              <a:t>3. The manager selects the time period for the reports they want to view (e.g., previous week, previous month, previous year)(optional).</a:t>
            </a:r>
          </a:p>
          <a:p>
            <a:r>
              <a:rPr lang="en-US" sz="2400" dirty="0"/>
              <a:t>4. The manager reviews the report and identifies any errors or deficiencies.</a:t>
            </a:r>
          </a:p>
          <a:p>
            <a:r>
              <a:rPr lang="en-US" sz="2400" dirty="0"/>
              <a:t>5. The manager takes action based on the insights gained from the report (e.g., optimizing security in a specific area, increasing security personnel, etc.).</a:t>
            </a:r>
          </a:p>
          <a:p>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endParaRPr lang="ar-EG" sz="2400" dirty="0"/>
          </a:p>
        </p:txBody>
      </p:sp>
    </p:spTree>
    <p:extLst>
      <p:ext uri="{BB962C8B-B14F-4D97-AF65-F5344CB8AC3E}">
        <p14:creationId xmlns:p14="http://schemas.microsoft.com/office/powerpoint/2010/main" val="34914686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26" name="Picture 2" descr="https://lh7-us.googleusercontent.com/IR6WNmLiOeWoDS5vjkFT0szO4kKslyg9-6qHTfYPtyzUEhw3xTEw0wDfrnZ1KY3_p2e84Gi4G1Sk1Jn08RB0GRbVGt2oBVpuyd1bXedgKufPvCWS9R5SL09CL-a0KhXQdMGP53mj6kLFOyqpfTarbHR8i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7292" y="827359"/>
            <a:ext cx="3944476" cy="713657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1384586" y="2723369"/>
            <a:ext cx="4464812" cy="1529778"/>
          </a:xfrm>
          <a:prstGeom prst="rect">
            <a:avLst/>
          </a:prstGeom>
        </p:spPr>
        <p:txBody>
          <a:bodyPr wrap="none">
            <a:spAutoFit/>
          </a:bodyPr>
          <a:lstStyle/>
          <a:p>
            <a:pPr>
              <a:lnSpc>
                <a:spcPts val="5468"/>
              </a:lnSpc>
            </a:pPr>
            <a:r>
              <a:rPr lang="en-US" sz="9600" b="1" dirty="0">
                <a:solidFill>
                  <a:schemeClr val="accent4"/>
                </a:solidFill>
                <a:latin typeface="+mj-lt"/>
                <a:ea typeface="Roboto Slab" pitchFamily="34" charset="-122"/>
              </a:rPr>
              <a:t>5.</a:t>
            </a:r>
          </a:p>
          <a:p>
            <a:pPr>
              <a:lnSpc>
                <a:spcPts val="5468"/>
              </a:lnSpc>
            </a:pPr>
            <a:r>
              <a:rPr lang="en-US" sz="6000" b="1" dirty="0">
                <a:solidFill>
                  <a:schemeClr val="accent4"/>
                </a:solidFill>
                <a:latin typeface="+mj-lt"/>
                <a:cs typeface="+mj-cs"/>
              </a:rPr>
              <a:t>User Interface</a:t>
            </a:r>
          </a:p>
        </p:txBody>
      </p:sp>
    </p:spTree>
    <p:extLst>
      <p:ext uri="{BB962C8B-B14F-4D97-AF65-F5344CB8AC3E}">
        <p14:creationId xmlns:p14="http://schemas.microsoft.com/office/powerpoint/2010/main" val="385682244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p:cNvCxnSpPr/>
          <p:nvPr/>
        </p:nvCxnSpPr>
        <p:spPr>
          <a:xfrm flipV="1">
            <a:off x="5685145" y="4262507"/>
            <a:ext cx="2831691" cy="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6" name="Picture 2" descr="https://lh7-us.googleusercontent.com/1pN1HOjv1onGl7s24Am3WUrgypVTnaymn3SSUYWfASEHzlpOCN7OmCe9ebp0WGlmdE6aveqMCvfb034F2aP2yly6j9wTKpFId_iLPmbfyYMIO_x-zA6YKgxgxP_YT4YVChB2a9IUvRwRIBMtS7ZvlGBoFw=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102" y="830037"/>
            <a:ext cx="3793988" cy="686494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31891" y="830037"/>
            <a:ext cx="3986133" cy="7088182"/>
          </a:xfrm>
          <a:prstGeom prst="rect">
            <a:avLst/>
          </a:prstGeom>
        </p:spPr>
      </p:pic>
    </p:spTree>
    <p:extLst>
      <p:ext uri="{BB962C8B-B14F-4D97-AF65-F5344CB8AC3E}">
        <p14:creationId xmlns:p14="http://schemas.microsoft.com/office/powerpoint/2010/main" val="299268941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2571" y="734661"/>
            <a:ext cx="3758861" cy="705569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0550" y="734660"/>
            <a:ext cx="4175977" cy="7055695"/>
          </a:xfrm>
          <a:prstGeom prst="rect">
            <a:avLst/>
          </a:prstGeom>
        </p:spPr>
      </p:pic>
      <p:cxnSp>
        <p:nvCxnSpPr>
          <p:cNvPr id="5" name="Straight Arrow Connector 4"/>
          <p:cNvCxnSpPr/>
          <p:nvPr/>
        </p:nvCxnSpPr>
        <p:spPr>
          <a:xfrm flipV="1">
            <a:off x="5685145" y="4262507"/>
            <a:ext cx="2831691" cy="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6410562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2571" y="734661"/>
            <a:ext cx="3758861" cy="7055695"/>
          </a:xfrm>
          <a:prstGeom prst="rect">
            <a:avLst/>
          </a:prstGeom>
        </p:spPr>
      </p:pic>
      <p:cxnSp>
        <p:nvCxnSpPr>
          <p:cNvPr id="5" name="Straight Arrow Connector 4"/>
          <p:cNvCxnSpPr/>
          <p:nvPr/>
        </p:nvCxnSpPr>
        <p:spPr>
          <a:xfrm flipV="1">
            <a:off x="5685145" y="4262507"/>
            <a:ext cx="2831691" cy="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0549" y="734661"/>
            <a:ext cx="3837269" cy="7089058"/>
          </a:xfrm>
          <a:prstGeom prst="rect">
            <a:avLst/>
          </a:prstGeom>
        </p:spPr>
      </p:pic>
    </p:spTree>
    <p:extLst>
      <p:ext uri="{BB962C8B-B14F-4D97-AF65-F5344CB8AC3E}">
        <p14:creationId xmlns:p14="http://schemas.microsoft.com/office/powerpoint/2010/main" val="174349308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2571" y="734661"/>
            <a:ext cx="3758861" cy="7055695"/>
          </a:xfrm>
          <a:prstGeom prst="rect">
            <a:avLst/>
          </a:prstGeom>
        </p:spPr>
      </p:pic>
      <p:cxnSp>
        <p:nvCxnSpPr>
          <p:cNvPr id="5" name="Straight Arrow Connector 4"/>
          <p:cNvCxnSpPr/>
          <p:nvPr/>
        </p:nvCxnSpPr>
        <p:spPr>
          <a:xfrm flipV="1">
            <a:off x="5685145" y="4262507"/>
            <a:ext cx="2831691" cy="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0549" y="734661"/>
            <a:ext cx="3843845" cy="7089058"/>
          </a:xfrm>
          <a:prstGeom prst="rect">
            <a:avLst/>
          </a:prstGeom>
        </p:spPr>
      </p:pic>
    </p:spTree>
    <p:extLst>
      <p:ext uri="{BB962C8B-B14F-4D97-AF65-F5344CB8AC3E}">
        <p14:creationId xmlns:p14="http://schemas.microsoft.com/office/powerpoint/2010/main" val="314730509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03020" y="393148"/>
            <a:ext cx="4513444" cy="7430571"/>
          </a:xfrm>
          <a:prstGeom prst="rect">
            <a:avLst/>
          </a:prstGeom>
        </p:spPr>
      </p:pic>
      <p:pic>
        <p:nvPicPr>
          <p:cNvPr id="6" name="Picture 5"/>
          <p:cNvPicPr>
            <a:picLocks noChangeAspect="1"/>
          </p:cNvPicPr>
          <p:nvPr/>
        </p:nvPicPr>
        <p:blipFill>
          <a:blip r:embed="rId3"/>
          <a:stretch>
            <a:fillRect/>
          </a:stretch>
        </p:blipFill>
        <p:spPr>
          <a:xfrm>
            <a:off x="4615529" y="393148"/>
            <a:ext cx="3889374" cy="7432086"/>
          </a:xfrm>
          <a:prstGeom prst="rect">
            <a:avLst/>
          </a:prstGeom>
        </p:spPr>
      </p:pic>
      <p:pic>
        <p:nvPicPr>
          <p:cNvPr id="7" name="Picture 6"/>
          <p:cNvPicPr>
            <a:picLocks noChangeAspect="1"/>
          </p:cNvPicPr>
          <p:nvPr/>
        </p:nvPicPr>
        <p:blipFill>
          <a:blip r:embed="rId4"/>
          <a:stretch>
            <a:fillRect/>
          </a:stretch>
        </p:blipFill>
        <p:spPr>
          <a:xfrm>
            <a:off x="9221464" y="352771"/>
            <a:ext cx="4041800" cy="7470948"/>
          </a:xfrm>
          <a:prstGeom prst="rect">
            <a:avLst/>
          </a:prstGeom>
        </p:spPr>
      </p:pic>
    </p:spTree>
    <p:extLst>
      <p:ext uri="{BB962C8B-B14F-4D97-AF65-F5344CB8AC3E}">
        <p14:creationId xmlns:p14="http://schemas.microsoft.com/office/powerpoint/2010/main" val="142003216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7-us.googleusercontent.com/1pN1HOjv1onGl7s24Am3WUrgypVTnaymn3SSUYWfASEHzlpOCN7OmCe9ebp0WGlmdE6aveqMCvfb034F2aP2yly6j9wTKpFId_iLPmbfyYMIO_x-zA6YKgxgxP_YT4YVChB2a9IUvRwRIBMtS7ZvlGBoFw=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830" y="658237"/>
            <a:ext cx="4079123" cy="738087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3"/>
          <a:stretch>
            <a:fillRect/>
          </a:stretch>
        </p:blipFill>
        <p:spPr>
          <a:xfrm>
            <a:off x="4984953" y="656747"/>
            <a:ext cx="4060724" cy="7382363"/>
          </a:xfrm>
          <a:prstGeom prst="rect">
            <a:avLst/>
          </a:prstGeom>
        </p:spPr>
      </p:pic>
      <p:pic>
        <p:nvPicPr>
          <p:cNvPr id="4" name="Picture 3"/>
          <p:cNvPicPr>
            <a:picLocks noChangeAspect="1"/>
          </p:cNvPicPr>
          <p:nvPr/>
        </p:nvPicPr>
        <p:blipFill>
          <a:blip r:embed="rId4"/>
          <a:stretch>
            <a:fillRect/>
          </a:stretch>
        </p:blipFill>
        <p:spPr>
          <a:xfrm>
            <a:off x="9222658" y="603496"/>
            <a:ext cx="4437312" cy="7626104"/>
          </a:xfrm>
          <a:prstGeom prst="rect">
            <a:avLst/>
          </a:prstGeom>
        </p:spPr>
      </p:pic>
    </p:spTree>
    <p:extLst>
      <p:ext uri="{BB962C8B-B14F-4D97-AF65-F5344CB8AC3E}">
        <p14:creationId xmlns:p14="http://schemas.microsoft.com/office/powerpoint/2010/main" val="116861658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6770" y="374026"/>
            <a:ext cx="4298952" cy="7388314"/>
          </a:xfrm>
          <a:prstGeom prst="rect">
            <a:avLst/>
          </a:prstGeom>
        </p:spPr>
      </p:pic>
      <p:pic>
        <p:nvPicPr>
          <p:cNvPr id="3" name="Picture 2"/>
          <p:cNvPicPr>
            <a:picLocks noChangeAspect="1"/>
          </p:cNvPicPr>
          <p:nvPr/>
        </p:nvPicPr>
        <p:blipFill>
          <a:blip r:embed="rId3"/>
          <a:stretch>
            <a:fillRect/>
          </a:stretch>
        </p:blipFill>
        <p:spPr>
          <a:xfrm>
            <a:off x="5257038" y="374026"/>
            <a:ext cx="3959079" cy="7407578"/>
          </a:xfrm>
          <a:prstGeom prst="rect">
            <a:avLst/>
          </a:prstGeom>
        </p:spPr>
      </p:pic>
      <p:pic>
        <p:nvPicPr>
          <p:cNvPr id="4" name="Picture 3"/>
          <p:cNvPicPr>
            <a:picLocks noChangeAspect="1"/>
          </p:cNvPicPr>
          <p:nvPr/>
        </p:nvPicPr>
        <p:blipFill>
          <a:blip r:embed="rId4"/>
          <a:stretch>
            <a:fillRect/>
          </a:stretch>
        </p:blipFill>
        <p:spPr>
          <a:xfrm>
            <a:off x="9877433" y="374026"/>
            <a:ext cx="3988603" cy="7399026"/>
          </a:xfrm>
          <a:prstGeom prst="rect">
            <a:avLst/>
          </a:prstGeom>
        </p:spPr>
      </p:pic>
    </p:spTree>
    <p:extLst>
      <p:ext uri="{BB962C8B-B14F-4D97-AF65-F5344CB8AC3E}">
        <p14:creationId xmlns:p14="http://schemas.microsoft.com/office/powerpoint/2010/main" val="110863816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5234921" y="422787"/>
            <a:ext cx="3865255" cy="7608907"/>
          </a:xfrm>
          <a:prstGeom prst="rect">
            <a:avLst/>
          </a:prstGeom>
        </p:spPr>
      </p:pic>
      <p:pic>
        <p:nvPicPr>
          <p:cNvPr id="6" name="Picture 5"/>
          <p:cNvPicPr>
            <a:picLocks noChangeAspect="1"/>
          </p:cNvPicPr>
          <p:nvPr/>
        </p:nvPicPr>
        <p:blipFill>
          <a:blip r:embed="rId3"/>
          <a:stretch>
            <a:fillRect/>
          </a:stretch>
        </p:blipFill>
        <p:spPr>
          <a:xfrm>
            <a:off x="10042589" y="422787"/>
            <a:ext cx="3852281" cy="7608907"/>
          </a:xfrm>
          <a:prstGeom prst="rect">
            <a:avLst/>
          </a:prstGeom>
        </p:spPr>
      </p:pic>
      <p:pic>
        <p:nvPicPr>
          <p:cNvPr id="7" name="Picture 6"/>
          <p:cNvPicPr>
            <a:picLocks noChangeAspect="1"/>
          </p:cNvPicPr>
          <p:nvPr/>
        </p:nvPicPr>
        <p:blipFill>
          <a:blip r:embed="rId4"/>
          <a:stretch>
            <a:fillRect/>
          </a:stretch>
        </p:blipFill>
        <p:spPr>
          <a:xfrm>
            <a:off x="586578" y="541905"/>
            <a:ext cx="3705930" cy="7489789"/>
          </a:xfrm>
          <a:prstGeom prst="rect">
            <a:avLst/>
          </a:prstGeom>
        </p:spPr>
      </p:pic>
    </p:spTree>
    <p:extLst>
      <p:ext uri="{BB962C8B-B14F-4D97-AF65-F5344CB8AC3E}">
        <p14:creationId xmlns:p14="http://schemas.microsoft.com/office/powerpoint/2010/main" val="349230960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2447</TotalTime>
  <Words>2031</Words>
  <Application>Microsoft Office PowerPoint</Application>
  <PresentationFormat>مخصص</PresentationFormat>
  <Paragraphs>312</Paragraphs>
  <Slides>45</Slides>
  <Notes>29</Notes>
  <HiddenSlides>0</HiddenSlides>
  <MMClips>0</MMClips>
  <ScaleCrop>false</ScaleCrop>
  <HeadingPairs>
    <vt:vector size="6" baseType="variant">
      <vt:variant>
        <vt:lpstr>الخطوط المستخدمة</vt:lpstr>
      </vt:variant>
      <vt:variant>
        <vt:i4>6</vt:i4>
      </vt:variant>
      <vt:variant>
        <vt:lpstr>نسق</vt:lpstr>
      </vt:variant>
      <vt:variant>
        <vt:i4>1</vt:i4>
      </vt:variant>
      <vt:variant>
        <vt:lpstr>عناوين الشرائح</vt:lpstr>
      </vt:variant>
      <vt:variant>
        <vt:i4>45</vt:i4>
      </vt:variant>
    </vt:vector>
  </HeadingPairs>
  <TitlesOfParts>
    <vt:vector size="52" baseType="lpstr">
      <vt:lpstr>Arial</vt:lpstr>
      <vt:lpstr>Calibri</vt:lpstr>
      <vt:lpstr>Roboto</vt:lpstr>
      <vt:lpstr>Roboto Slab</vt:lpstr>
      <vt:lpstr>Segoe UI</vt:lpstr>
      <vt:lpstr>Times New Roman</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Mohamed Abd Elazeem</cp:lastModifiedBy>
  <cp:revision>52</cp:revision>
  <dcterms:created xsi:type="dcterms:W3CDTF">2023-12-06T15:05:16Z</dcterms:created>
  <dcterms:modified xsi:type="dcterms:W3CDTF">2024-02-29T10:53:48Z</dcterms:modified>
</cp:coreProperties>
</file>